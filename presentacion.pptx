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E7ADB5-6E5F-4712-91B4-696FDC38113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E0045B4-5326-41FD-AEF1-B1F2DBD17F1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2CB7819-D3AB-4341-9411-57FA63B388B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7EF0C7F-6E0B-4017-98D7-44D9CF29A76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Mast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er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6AA51AB-8CE3-42BD-B08C-741F72861B7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269B909-44F7-4FD3-AA84-3B9A740E8EF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title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4DAAD57-396C-45B3-877A-062AA436888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5857A67-8AE5-4A41-AE24-F87AE3CB60B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DFC1293-5C9A-4EA7-A61D-20638B83DB1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edi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Master title </a:t>
            </a: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2F368F1-5DD0-4C59-854D-A86DE63D24B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4572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4572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4572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4572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4572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4572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5564DCF-6799-4390-8F8D-628EA9B0850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2" name="Rectangle 2"/>
          <p:cNvSpPr/>
          <p:nvPr/>
        </p:nvSpPr>
        <p:spPr>
          <a:xfrm>
            <a:off x="0" y="3246120"/>
            <a:ext cx="1645560" cy="5436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9720" rIns="90000" bIns="972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3" name="TextBox 3"/>
          <p:cNvSpPr/>
          <p:nvPr/>
        </p:nvSpPr>
        <p:spPr>
          <a:xfrm>
            <a:off x="914400" y="2194560"/>
            <a:ext cx="100580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5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Análisis de cartera y gasto</a:t>
            </a:r>
            <a:endParaRPr lang="en-US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4"/>
          <p:cNvSpPr/>
          <p:nvPr/>
        </p:nvSpPr>
        <p:spPr>
          <a:xfrm>
            <a:off x="914400" y="342900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Prepaga de salud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5"/>
          <p:cNvSpPr/>
          <p:nvPr/>
        </p:nvSpPr>
        <p:spPr>
          <a:xfrm>
            <a:off x="914400" y="4114800"/>
            <a:ext cx="100580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729FCF"/>
                </a:solidFill>
                <a:effectLst/>
                <a:uFillTx/>
                <a:latin typeface="Calibri"/>
              </a:rPr>
              <a:t>TP Final de Analytics · ITBA · Abril 2026</a:t>
            </a:r>
            <a:endParaRPr lang="en-US" sz="1800" b="0" u="none" strike="noStrike">
              <a:solidFill>
                <a:srgbClr val="729FCF"/>
              </a:solidFill>
              <a:effectLst/>
              <a:uFillTx/>
              <a:latin typeface="Arial"/>
            </a:endParaRPr>
          </a:p>
        </p:txBody>
      </p:sp>
      <p:sp>
        <p:nvSpPr>
          <p:cNvPr id="66" name="Rectangle 6"/>
          <p:cNvSpPr/>
          <p:nvPr/>
        </p:nvSpPr>
        <p:spPr>
          <a:xfrm>
            <a:off x="0" y="6583680"/>
            <a:ext cx="12191400" cy="27396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7" name="TextBox 7"/>
          <p:cNvSpPr/>
          <p:nvPr/>
        </p:nvSpPr>
        <p:spPr>
          <a:xfrm>
            <a:off x="914400" y="6035040"/>
            <a:ext cx="1005804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dataset healthcare_tp.csv · 6.000 atenciones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9" name="TextBox 2"/>
          <p:cNvSpPr/>
          <p:nvPr/>
        </p:nvSpPr>
        <p:spPr>
          <a:xfrm>
            <a:off x="457200" y="32004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3"/>
          <p:cNvSpPr/>
          <p:nvPr/>
        </p:nvSpPr>
        <p:spPr>
          <a:xfrm>
            <a:off x="82296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Contexto del análisis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4"/>
          <p:cNvSpPr/>
          <p:nvPr/>
        </p:nvSpPr>
        <p:spPr>
          <a:xfrm>
            <a:off x="457200" y="7772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El dataset y lo que busca responder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5"/>
          <p:cNvSpPr/>
          <p:nvPr/>
        </p:nvSpPr>
        <p:spPr>
          <a:xfrm>
            <a:off x="457200" y="1783080"/>
            <a:ext cx="2468520" cy="118836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6"/>
          <p:cNvSpPr/>
          <p:nvPr/>
        </p:nvSpPr>
        <p:spPr>
          <a:xfrm>
            <a:off x="457200" y="1920240"/>
            <a:ext cx="2468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6.000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7"/>
          <p:cNvSpPr/>
          <p:nvPr/>
        </p:nvSpPr>
        <p:spPr>
          <a:xfrm>
            <a:off x="457200" y="246888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atenciones con internación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ectangle 8"/>
          <p:cNvSpPr/>
          <p:nvPr/>
        </p:nvSpPr>
        <p:spPr>
          <a:xfrm>
            <a:off x="3108960" y="1783080"/>
            <a:ext cx="2468520" cy="118836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9"/>
          <p:cNvSpPr/>
          <p:nvPr/>
        </p:nvSpPr>
        <p:spPr>
          <a:xfrm>
            <a:off x="3108960" y="1920240"/>
            <a:ext cx="2468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12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0"/>
          <p:cNvSpPr/>
          <p:nvPr/>
        </p:nvSpPr>
        <p:spPr>
          <a:xfrm>
            <a:off x="3108960" y="246888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columnas de datos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Rectangle 11"/>
          <p:cNvSpPr/>
          <p:nvPr/>
        </p:nvSpPr>
        <p:spPr>
          <a:xfrm>
            <a:off x="5760720" y="1783080"/>
            <a:ext cx="2468520" cy="118836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9" name="TextBox 12"/>
          <p:cNvSpPr/>
          <p:nvPr/>
        </p:nvSpPr>
        <p:spPr>
          <a:xfrm>
            <a:off x="5760720" y="1920240"/>
            <a:ext cx="2468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2023-2025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13"/>
          <p:cNvSpPr/>
          <p:nvPr/>
        </p:nvSpPr>
        <p:spPr>
          <a:xfrm>
            <a:off x="5760720" y="246888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período cubierto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Rectangle 14"/>
          <p:cNvSpPr/>
          <p:nvPr/>
        </p:nvSpPr>
        <p:spPr>
          <a:xfrm>
            <a:off x="8412480" y="1783080"/>
            <a:ext cx="2468520" cy="118836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2" name="TextBox 15"/>
          <p:cNvSpPr/>
          <p:nvPr/>
        </p:nvSpPr>
        <p:spPr>
          <a:xfrm>
            <a:off x="8412480" y="1920240"/>
            <a:ext cx="2468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8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4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6"/>
          <p:cNvSpPr/>
          <p:nvPr/>
        </p:nvSpPr>
        <p:spPr>
          <a:xfrm>
            <a:off x="8412480" y="246888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prepagas y 4 planes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7"/>
          <p:cNvSpPr/>
          <p:nvPr/>
        </p:nvSpPr>
        <p:spPr>
          <a:xfrm>
            <a:off x="457200" y="3383280"/>
            <a:ext cx="109724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El problema planteado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8"/>
          <p:cNvSpPr/>
          <p:nvPr/>
        </p:nvSpPr>
        <p:spPr>
          <a:xfrm>
            <a:off x="457200" y="3931920"/>
            <a:ext cx="10972440" cy="141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• </a:t>
            </a:r>
            <a:r>
              <a:rPr lang="en-US" sz="17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Describir la cartera </a:t>
            </a:r>
            <a:r>
              <a:rPr lang="en-US" sz="17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— quiénes son los asegurados y cómo se distribuyen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• </a:t>
            </a:r>
            <a:r>
              <a:rPr lang="en-US" sz="17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Analizar el uso del sistema </a:t>
            </a:r>
            <a:r>
              <a:rPr lang="en-US" sz="17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— internaciones, medicamentos, resultados de tests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• </a:t>
            </a:r>
            <a:r>
              <a:rPr lang="en-US" sz="17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Identificar diferencias en billing </a:t>
            </a:r>
            <a:r>
              <a:rPr lang="en-US" sz="17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— ¿quién genera más costo y por qué?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7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• </a:t>
            </a:r>
            <a:r>
              <a:rPr lang="en-US" sz="17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Generar insights accionables </a:t>
            </a:r>
            <a:r>
              <a:rPr lang="en-US" sz="17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— recomendaciones concretas para la prepaga</a:t>
            </a:r>
            <a:endParaRPr lang="en-US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ectangle 19"/>
          <p:cNvSpPr/>
          <p:nvPr/>
        </p:nvSpPr>
        <p:spPr>
          <a:xfrm>
            <a:off x="457200" y="6080760"/>
            <a:ext cx="11246760" cy="365400"/>
          </a:xfrm>
          <a:prstGeom prst="rect">
            <a:avLst/>
          </a:prstGeom>
          <a:solidFill>
            <a:srgbClr val="F3F2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Box 20"/>
          <p:cNvSpPr/>
          <p:nvPr/>
        </p:nvSpPr>
        <p:spPr>
          <a:xfrm>
            <a:off x="640080" y="612648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Framework (clase 1):  Problema claro  →  Datos intencionados  →  Patrón  →  Acción  →  Resultado medible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21"/>
          <p:cNvSpPr/>
          <p:nvPr/>
        </p:nvSpPr>
        <p:spPr>
          <a:xfrm>
            <a:off x="457200" y="65836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TP Analytics ITBA · Prepaga de salud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Box 22"/>
          <p:cNvSpPr/>
          <p:nvPr/>
        </p:nvSpPr>
        <p:spPr>
          <a:xfrm>
            <a:off x="10332720" y="658368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2 /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457200" y="32004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3"/>
          <p:cNvSpPr/>
          <p:nvPr/>
        </p:nvSpPr>
        <p:spPr>
          <a:xfrm>
            <a:off x="82296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Calidad de datos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Box 4"/>
          <p:cNvSpPr/>
          <p:nvPr/>
        </p:nvSpPr>
        <p:spPr>
          <a:xfrm>
            <a:off x="457200" y="7772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Qué encontramos antes de analizar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ectangle 5"/>
          <p:cNvSpPr/>
          <p:nvPr/>
        </p:nvSpPr>
        <p:spPr>
          <a:xfrm>
            <a:off x="457200" y="1828800"/>
            <a:ext cx="5394600" cy="54828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5" name="TextBox 6"/>
          <p:cNvSpPr/>
          <p:nvPr/>
        </p:nvSpPr>
        <p:spPr>
          <a:xfrm>
            <a:off x="640080" y="193860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PROBLEMAS DETECTADOS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ectangle 7"/>
          <p:cNvSpPr/>
          <p:nvPr/>
        </p:nvSpPr>
        <p:spPr>
          <a:xfrm>
            <a:off x="457200" y="2377440"/>
            <a:ext cx="5394600" cy="361152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8"/>
          <p:cNvSpPr/>
          <p:nvPr/>
        </p:nvSpPr>
        <p:spPr>
          <a:xfrm>
            <a:off x="685800" y="2560320"/>
            <a:ext cx="4937400" cy="33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• </a:t>
            </a:r>
            <a:r>
              <a:rPr lang="en-US" sz="15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1112 registros </a:t>
            </a:r>
            <a:r>
              <a:rPr lang="en-US" sz="15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sin medicamento (~19%)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• </a:t>
            </a:r>
            <a:r>
              <a:rPr lang="en-US" sz="15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30 registros </a:t>
            </a:r>
            <a:r>
              <a:rPr lang="en-US" sz="15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sin condición médica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• </a:t>
            </a:r>
            <a:r>
              <a:rPr lang="en-US" sz="15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20 registros </a:t>
            </a:r>
            <a:r>
              <a:rPr lang="en-US" sz="15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sin Billing Amount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• </a:t>
            </a:r>
            <a:r>
              <a:rPr lang="en-US" sz="15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Gender inconsistente </a:t>
            </a:r>
            <a:r>
              <a:rPr lang="en-US" sz="15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(MALE vs Male)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• </a:t>
            </a:r>
            <a:r>
              <a:rPr lang="en-US" sz="15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34 bebés (edad 0) </a:t>
            </a:r>
            <a:r>
              <a:rPr lang="en-US" sz="15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con cáncer, HTA, obesidad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• </a:t>
            </a:r>
            <a:r>
              <a:rPr lang="en-US" sz="15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51% de tests </a:t>
            </a:r>
            <a:r>
              <a:rPr lang="en-US" sz="15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"Abnormal"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Rectangle 9"/>
          <p:cNvSpPr/>
          <p:nvPr/>
        </p:nvSpPr>
        <p:spPr>
          <a:xfrm>
            <a:off x="6309360" y="1828800"/>
            <a:ext cx="5394600" cy="54828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10"/>
          <p:cNvSpPr/>
          <p:nvPr/>
        </p:nvSpPr>
        <p:spPr>
          <a:xfrm>
            <a:off x="6492240" y="1938600"/>
            <a:ext cx="5394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QUÉ HICIMOS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Rectangle 11"/>
          <p:cNvSpPr/>
          <p:nvPr/>
        </p:nvSpPr>
        <p:spPr>
          <a:xfrm>
            <a:off x="6309360" y="2377440"/>
            <a:ext cx="5394600" cy="361152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1" name="TextBox 12"/>
          <p:cNvSpPr/>
          <p:nvPr/>
        </p:nvSpPr>
        <p:spPr>
          <a:xfrm>
            <a:off x="6537960" y="2560320"/>
            <a:ext cx="4937400" cy="33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• </a:t>
            </a:r>
            <a:r>
              <a:rPr lang="en-US" sz="15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Normalizamos </a:t>
            </a:r>
            <a:r>
              <a:rPr lang="en-US" sz="15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Gender con .capitalize()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• </a:t>
            </a:r>
            <a:r>
              <a:rPr lang="en-US" sz="15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Flaggeamos </a:t>
            </a:r>
            <a:r>
              <a:rPr lang="en-US" sz="15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outliers de billing por IQR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• </a:t>
            </a:r>
            <a:r>
              <a:rPr lang="en-US" sz="15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Imputamos </a:t>
            </a:r>
            <a:r>
              <a:rPr lang="en-US" sz="15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edades 0 con mediana por condición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• </a:t>
            </a:r>
            <a:r>
              <a:rPr lang="en-US" sz="15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Mantuvimos </a:t>
            </a:r>
            <a:r>
              <a:rPr lang="en-US" sz="15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los nulos para análisis (no droppeamos)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5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• </a:t>
            </a:r>
            <a:r>
              <a:rPr lang="en-US" sz="15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Identificamos </a:t>
            </a:r>
            <a:r>
              <a:rPr lang="en-US" sz="15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que los 1112 sin medicamento son TODOS "Healthy"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ectangle 13"/>
          <p:cNvSpPr/>
          <p:nvPr/>
        </p:nvSpPr>
        <p:spPr>
          <a:xfrm>
            <a:off x="457200" y="6126480"/>
            <a:ext cx="11246760" cy="365400"/>
          </a:xfrm>
          <a:prstGeom prst="rect">
            <a:avLst/>
          </a:prstGeom>
          <a:solidFill>
            <a:srgbClr val="FFF4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TextBox 14"/>
          <p:cNvSpPr/>
          <p:nvPr/>
        </p:nvSpPr>
        <p:spPr>
          <a:xfrm>
            <a:off x="640080" y="617220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D88C00"/>
                </a:solidFill>
                <a:effectLst/>
                <a:uFillTx/>
                <a:latin typeface="Calibri"/>
              </a:rPr>
              <a:t>Insight:  los 1112 sin medicamento no son errores random — son exactamente los 1108 clasificados como "Healthy"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Box 15"/>
          <p:cNvSpPr/>
          <p:nvPr/>
        </p:nvSpPr>
        <p:spPr>
          <a:xfrm>
            <a:off x="457200" y="65836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TP Analytics ITBA · Prepaga de salud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6"/>
          <p:cNvSpPr/>
          <p:nvPr/>
        </p:nvSpPr>
        <p:spPr>
          <a:xfrm>
            <a:off x="10332720" y="658368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3 /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7" name="TextBox 2"/>
          <p:cNvSpPr/>
          <p:nvPr/>
        </p:nvSpPr>
        <p:spPr>
          <a:xfrm>
            <a:off x="457200" y="32004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Box 3"/>
          <p:cNvSpPr/>
          <p:nvPr/>
        </p:nvSpPr>
        <p:spPr>
          <a:xfrm>
            <a:off x="82296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Descripción de la cartera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Box 4"/>
          <p:cNvSpPr/>
          <p:nvPr/>
        </p:nvSpPr>
        <p:spPr>
          <a:xfrm>
            <a:off x="457200" y="7772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Quiénes son los asegurados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5"/>
          <p:cNvSpPr/>
          <p:nvPr/>
        </p:nvSpPr>
        <p:spPr>
          <a:xfrm>
            <a:off x="457200" y="1828800"/>
            <a:ext cx="5486040" cy="187416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1" name="Rectangle 6"/>
          <p:cNvSpPr/>
          <p:nvPr/>
        </p:nvSpPr>
        <p:spPr>
          <a:xfrm>
            <a:off x="457200" y="1828800"/>
            <a:ext cx="72720" cy="187416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TextBox 7"/>
          <p:cNvSpPr/>
          <p:nvPr/>
        </p:nvSpPr>
        <p:spPr>
          <a:xfrm>
            <a:off x="731520" y="201168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EDAD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Box 8"/>
          <p:cNvSpPr/>
          <p:nvPr/>
        </p:nvSpPr>
        <p:spPr>
          <a:xfrm>
            <a:off x="731520" y="2331720"/>
            <a:ext cx="50288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51 años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Box 9"/>
          <p:cNvSpPr/>
          <p:nvPr/>
        </p:nvSpPr>
        <p:spPr>
          <a:xfrm>
            <a:off x="731520" y="3154680"/>
            <a:ext cx="502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media · distribución pareja entre 18 y 85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ectangle 10"/>
          <p:cNvSpPr/>
          <p:nvPr/>
        </p:nvSpPr>
        <p:spPr>
          <a:xfrm>
            <a:off x="6217920" y="1828800"/>
            <a:ext cx="5486040" cy="187416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6" name="Rectangle 11"/>
          <p:cNvSpPr/>
          <p:nvPr/>
        </p:nvSpPr>
        <p:spPr>
          <a:xfrm>
            <a:off x="6217920" y="1828800"/>
            <a:ext cx="72720" cy="187416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7" name="TextBox 12"/>
          <p:cNvSpPr/>
          <p:nvPr/>
        </p:nvSpPr>
        <p:spPr>
          <a:xfrm>
            <a:off x="6492240" y="201168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GÉNERO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Box 13"/>
          <p:cNvSpPr/>
          <p:nvPr/>
        </p:nvSpPr>
        <p:spPr>
          <a:xfrm>
            <a:off x="6492240" y="2331720"/>
            <a:ext cx="50288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52 / 48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Box 14"/>
          <p:cNvSpPr/>
          <p:nvPr/>
        </p:nvSpPr>
        <p:spPr>
          <a:xfrm>
            <a:off x="6492240" y="3154680"/>
            <a:ext cx="502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F / M  (casi paritario)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ectangle 15"/>
          <p:cNvSpPr/>
          <p:nvPr/>
        </p:nvSpPr>
        <p:spPr>
          <a:xfrm>
            <a:off x="457200" y="3840480"/>
            <a:ext cx="5486040" cy="187416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1" name="Rectangle 16"/>
          <p:cNvSpPr/>
          <p:nvPr/>
        </p:nvSpPr>
        <p:spPr>
          <a:xfrm>
            <a:off x="457200" y="3840480"/>
            <a:ext cx="72720" cy="187416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2" name="TextBox 17"/>
          <p:cNvSpPr/>
          <p:nvPr/>
        </p:nvSpPr>
        <p:spPr>
          <a:xfrm>
            <a:off x="731520" y="402336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PROVIDERS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18"/>
          <p:cNvSpPr/>
          <p:nvPr/>
        </p:nvSpPr>
        <p:spPr>
          <a:xfrm>
            <a:off x="731520" y="4343400"/>
            <a:ext cx="50288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4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Box 19"/>
          <p:cNvSpPr/>
          <p:nvPr/>
        </p:nvSpPr>
        <p:spPr>
          <a:xfrm>
            <a:off x="731520" y="5166360"/>
            <a:ext cx="502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Aetna, Blue Cross, Cigna, Medicare · ~25% c/u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angle 20"/>
          <p:cNvSpPr/>
          <p:nvPr/>
        </p:nvSpPr>
        <p:spPr>
          <a:xfrm>
            <a:off x="6217920" y="3840480"/>
            <a:ext cx="5486040" cy="187416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6" name="Rectangle 21"/>
          <p:cNvSpPr/>
          <p:nvPr/>
        </p:nvSpPr>
        <p:spPr>
          <a:xfrm>
            <a:off x="6217920" y="3840480"/>
            <a:ext cx="72720" cy="187416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22"/>
          <p:cNvSpPr/>
          <p:nvPr/>
        </p:nvSpPr>
        <p:spPr>
          <a:xfrm>
            <a:off x="6492240" y="4023360"/>
            <a:ext cx="5028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PLANES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23"/>
          <p:cNvSpPr/>
          <p:nvPr/>
        </p:nvSpPr>
        <p:spPr>
          <a:xfrm>
            <a:off x="6492240" y="4343400"/>
            <a:ext cx="502884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0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4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Box 24"/>
          <p:cNvSpPr/>
          <p:nvPr/>
        </p:nvSpPr>
        <p:spPr>
          <a:xfrm>
            <a:off x="6492240" y="5166360"/>
            <a:ext cx="5028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Basic, Silver, Gold, Platinum · ~25% c/u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ectangle 25"/>
          <p:cNvSpPr/>
          <p:nvPr/>
        </p:nvSpPr>
        <p:spPr>
          <a:xfrm>
            <a:off x="457200" y="6035040"/>
            <a:ext cx="11246760" cy="4568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1" name="TextBox 26"/>
          <p:cNvSpPr/>
          <p:nvPr/>
        </p:nvSpPr>
        <p:spPr>
          <a:xfrm>
            <a:off x="640080" y="610812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La cartera está balanceada demográficamente. Lo desbalanceado pasa adentro del sistema de salud.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Box 27"/>
          <p:cNvSpPr/>
          <p:nvPr/>
        </p:nvSpPr>
        <p:spPr>
          <a:xfrm>
            <a:off x="457200" y="65836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TP Analytics ITBA · Prepaga de salud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Box 28"/>
          <p:cNvSpPr/>
          <p:nvPr/>
        </p:nvSpPr>
        <p:spPr>
          <a:xfrm>
            <a:off x="10332720" y="658368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4 /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2"/>
          <p:cNvSpPr/>
          <p:nvPr/>
        </p:nvSpPr>
        <p:spPr>
          <a:xfrm>
            <a:off x="457200" y="32004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05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Box 3"/>
          <p:cNvSpPr/>
          <p:nvPr/>
        </p:nvSpPr>
        <p:spPr>
          <a:xfrm>
            <a:off x="82296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Uso del sistema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4"/>
          <p:cNvSpPr/>
          <p:nvPr/>
        </p:nvSpPr>
        <p:spPr>
          <a:xfrm>
            <a:off x="457200" y="7772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Qué internaciones hay y qué se receta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5"/>
          <p:cNvSpPr/>
          <p:nvPr/>
        </p:nvSpPr>
        <p:spPr>
          <a:xfrm>
            <a:off x="457200" y="1828800"/>
            <a:ext cx="5486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Condiciones médicas (ranking)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6"/>
          <p:cNvSpPr/>
          <p:nvPr/>
        </p:nvSpPr>
        <p:spPr>
          <a:xfrm>
            <a:off x="457200" y="228600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Obesidad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ectangle 7"/>
          <p:cNvSpPr/>
          <p:nvPr/>
        </p:nvSpPr>
        <p:spPr>
          <a:xfrm>
            <a:off x="1920240" y="2331720"/>
            <a:ext cx="2944080" cy="2282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Box 8"/>
          <p:cNvSpPr/>
          <p:nvPr/>
        </p:nvSpPr>
        <p:spPr>
          <a:xfrm>
            <a:off x="4956120" y="22860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23%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Box 9"/>
          <p:cNvSpPr/>
          <p:nvPr/>
        </p:nvSpPr>
        <p:spPr>
          <a:xfrm>
            <a:off x="457200" y="265176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Hipertensión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ectangle 10"/>
          <p:cNvSpPr/>
          <p:nvPr/>
        </p:nvSpPr>
        <p:spPr>
          <a:xfrm>
            <a:off x="1920240" y="2697480"/>
            <a:ext cx="2815920" cy="2282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4" name="TextBox 11"/>
          <p:cNvSpPr/>
          <p:nvPr/>
        </p:nvSpPr>
        <p:spPr>
          <a:xfrm>
            <a:off x="4827960" y="265176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22%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Box 12"/>
          <p:cNvSpPr/>
          <p:nvPr/>
        </p:nvSpPr>
        <p:spPr>
          <a:xfrm>
            <a:off x="457200" y="301752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Healthy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ectangle 13"/>
          <p:cNvSpPr/>
          <p:nvPr/>
        </p:nvSpPr>
        <p:spPr>
          <a:xfrm>
            <a:off x="1920240" y="3063240"/>
            <a:ext cx="2304000" cy="228240"/>
          </a:xfrm>
          <a:prstGeom prst="rect">
            <a:avLst/>
          </a:prstGeom>
          <a:solidFill>
            <a:srgbClr val="605E5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TextBox 14"/>
          <p:cNvSpPr/>
          <p:nvPr/>
        </p:nvSpPr>
        <p:spPr>
          <a:xfrm>
            <a:off x="4316040" y="301752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18%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15"/>
          <p:cNvSpPr/>
          <p:nvPr/>
        </p:nvSpPr>
        <p:spPr>
          <a:xfrm>
            <a:off x="457200" y="338328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Asma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Rectangle 16"/>
          <p:cNvSpPr/>
          <p:nvPr/>
        </p:nvSpPr>
        <p:spPr>
          <a:xfrm>
            <a:off x="1920240" y="3429000"/>
            <a:ext cx="1791720" cy="22824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0" name="TextBox 17"/>
          <p:cNvSpPr/>
          <p:nvPr/>
        </p:nvSpPr>
        <p:spPr>
          <a:xfrm>
            <a:off x="3803760" y="338328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14%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Box 18"/>
          <p:cNvSpPr/>
          <p:nvPr/>
        </p:nvSpPr>
        <p:spPr>
          <a:xfrm>
            <a:off x="457200" y="374904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Diabetes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Rectangle 19"/>
          <p:cNvSpPr/>
          <p:nvPr/>
        </p:nvSpPr>
        <p:spPr>
          <a:xfrm>
            <a:off x="1920240" y="3794760"/>
            <a:ext cx="1791720" cy="22824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20"/>
          <p:cNvSpPr/>
          <p:nvPr/>
        </p:nvSpPr>
        <p:spPr>
          <a:xfrm>
            <a:off x="3803760" y="374904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14%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Box 21"/>
          <p:cNvSpPr/>
          <p:nvPr/>
        </p:nvSpPr>
        <p:spPr>
          <a:xfrm>
            <a:off x="457200" y="4114800"/>
            <a:ext cx="1371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Cáncer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Rectangle 22"/>
          <p:cNvSpPr/>
          <p:nvPr/>
        </p:nvSpPr>
        <p:spPr>
          <a:xfrm>
            <a:off x="1920240" y="4160520"/>
            <a:ext cx="1151640" cy="22824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Box 23"/>
          <p:cNvSpPr/>
          <p:nvPr/>
        </p:nvSpPr>
        <p:spPr>
          <a:xfrm>
            <a:off x="3163680" y="4114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9%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Rectangle 24"/>
          <p:cNvSpPr/>
          <p:nvPr/>
        </p:nvSpPr>
        <p:spPr>
          <a:xfrm>
            <a:off x="6583680" y="1828800"/>
            <a:ext cx="5120280" cy="4205880"/>
          </a:xfrm>
          <a:prstGeom prst="rect">
            <a:avLst/>
          </a:prstGeom>
          <a:solidFill>
            <a:srgbClr val="F3F2F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TextBox 25"/>
          <p:cNvSpPr/>
          <p:nvPr/>
        </p:nvSpPr>
        <p:spPr>
          <a:xfrm>
            <a:off x="6858000" y="210312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PERTINENCIA MÉDICA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Box 26"/>
          <p:cNvSpPr/>
          <p:nvPr/>
        </p:nvSpPr>
        <p:spPr>
          <a:xfrm>
            <a:off x="6858000" y="2560320"/>
            <a:ext cx="45716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80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100%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27"/>
          <p:cNvSpPr/>
          <p:nvPr/>
        </p:nvSpPr>
        <p:spPr>
          <a:xfrm>
            <a:off x="6858000" y="374904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coherencia medicamento–condición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28"/>
          <p:cNvSpPr/>
          <p:nvPr/>
        </p:nvSpPr>
        <p:spPr>
          <a:xfrm>
            <a:off x="6858000" y="4343400"/>
            <a:ext cx="4571640" cy="164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Sin errores groseros de prescripción: los diabéticos reciben insulina o metformina, los asmáticos inhaladores o corticoides, los hipertensos betabloqueantes o aspirina.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El problema de la prepaga no es mala praxis. Es volumen de crónicos.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Box 29"/>
          <p:cNvSpPr/>
          <p:nvPr/>
        </p:nvSpPr>
        <p:spPr>
          <a:xfrm>
            <a:off x="457200" y="603504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50 / 50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Box 30"/>
          <p:cNvSpPr/>
          <p:nvPr/>
        </p:nvSpPr>
        <p:spPr>
          <a:xfrm>
            <a:off x="457200" y="6291000"/>
            <a:ext cx="3748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Elective vs Emergency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Box 31"/>
          <p:cNvSpPr/>
          <p:nvPr/>
        </p:nvSpPr>
        <p:spPr>
          <a:xfrm>
            <a:off x="4297680" y="603504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8.5 días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32"/>
          <p:cNvSpPr/>
          <p:nvPr/>
        </p:nvSpPr>
        <p:spPr>
          <a:xfrm>
            <a:off x="4297680" y="6291000"/>
            <a:ext cx="3748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duración media internación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33"/>
          <p:cNvSpPr/>
          <p:nvPr/>
        </p:nvSpPr>
        <p:spPr>
          <a:xfrm>
            <a:off x="8138160" y="6035040"/>
            <a:ext cx="3748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51% Abnormal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34"/>
          <p:cNvSpPr/>
          <p:nvPr/>
        </p:nvSpPr>
        <p:spPr>
          <a:xfrm>
            <a:off x="8138160" y="6291000"/>
            <a:ext cx="374868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en Test Results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Box 35"/>
          <p:cNvSpPr/>
          <p:nvPr/>
        </p:nvSpPr>
        <p:spPr>
          <a:xfrm>
            <a:off x="457200" y="65836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TP Analytics ITBA · Prepaga de salud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Box 36"/>
          <p:cNvSpPr/>
          <p:nvPr/>
        </p:nvSpPr>
        <p:spPr>
          <a:xfrm>
            <a:off x="10332720" y="658368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5 /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2"/>
          <p:cNvSpPr/>
          <p:nvPr/>
        </p:nvSpPr>
        <p:spPr>
          <a:xfrm>
            <a:off x="457200" y="32004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06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3"/>
          <p:cNvSpPr/>
          <p:nvPr/>
        </p:nvSpPr>
        <p:spPr>
          <a:xfrm>
            <a:off x="82296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Análisis de billing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4"/>
          <p:cNvSpPr/>
          <p:nvPr/>
        </p:nvSpPr>
        <p:spPr>
          <a:xfrm>
            <a:off x="457200" y="7772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Dónde está la plata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Rectangle 5"/>
          <p:cNvSpPr/>
          <p:nvPr/>
        </p:nvSpPr>
        <p:spPr>
          <a:xfrm>
            <a:off x="457200" y="1828800"/>
            <a:ext cx="2742840" cy="100548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5" name="TextBox 6"/>
          <p:cNvSpPr/>
          <p:nvPr/>
        </p:nvSpPr>
        <p:spPr>
          <a:xfrm>
            <a:off x="457200" y="196596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$3.693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7"/>
          <p:cNvSpPr/>
          <p:nvPr/>
        </p:nvSpPr>
        <p:spPr>
          <a:xfrm>
            <a:off x="457200" y="24688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billing medio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Rectangle 8"/>
          <p:cNvSpPr/>
          <p:nvPr/>
        </p:nvSpPr>
        <p:spPr>
          <a:xfrm>
            <a:off x="3383280" y="1828800"/>
            <a:ext cx="2742840" cy="100548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8" name="TextBox 9"/>
          <p:cNvSpPr/>
          <p:nvPr/>
        </p:nvSpPr>
        <p:spPr>
          <a:xfrm>
            <a:off x="3383280" y="196596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$1.050 – $8.115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Box 10"/>
          <p:cNvSpPr/>
          <p:nvPr/>
        </p:nvSpPr>
        <p:spPr>
          <a:xfrm>
            <a:off x="3383280" y="24688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rango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Rectangle 11"/>
          <p:cNvSpPr/>
          <p:nvPr/>
        </p:nvSpPr>
        <p:spPr>
          <a:xfrm>
            <a:off x="6309360" y="1828800"/>
            <a:ext cx="2742840" cy="100548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1" name="TextBox 12"/>
          <p:cNvSpPr/>
          <p:nvPr/>
        </p:nvSpPr>
        <p:spPr>
          <a:xfrm>
            <a:off x="6309360" y="196596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+50%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Box 13"/>
          <p:cNvSpPr/>
          <p:nvPr/>
        </p:nvSpPr>
        <p:spPr>
          <a:xfrm>
            <a:off x="6309360" y="24688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Emergency vs Elective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Rectangle 14"/>
          <p:cNvSpPr/>
          <p:nvPr/>
        </p:nvSpPr>
        <p:spPr>
          <a:xfrm>
            <a:off x="9235440" y="1828800"/>
            <a:ext cx="2742840" cy="100548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15"/>
          <p:cNvSpPr/>
          <p:nvPr/>
        </p:nvSpPr>
        <p:spPr>
          <a:xfrm>
            <a:off x="9235440" y="196596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+50%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16"/>
          <p:cNvSpPr/>
          <p:nvPr/>
        </p:nvSpPr>
        <p:spPr>
          <a:xfrm>
            <a:off x="9235440" y="246888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76+ vs 18-30 años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Box 17"/>
          <p:cNvSpPr/>
          <p:nvPr/>
        </p:nvSpPr>
        <p:spPr>
          <a:xfrm>
            <a:off x="457200" y="320040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Hallazgos clave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Box 18"/>
          <p:cNvSpPr/>
          <p:nvPr/>
        </p:nvSpPr>
        <p:spPr>
          <a:xfrm>
            <a:off x="457200" y="3657600"/>
            <a:ext cx="1097244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• </a:t>
            </a:r>
            <a:r>
              <a:rPr lang="en-US" sz="16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Por condición: </a:t>
            </a:r>
            <a:r>
              <a:rPr lang="en-US" sz="16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la mediana es parecida (~$3.400) entre todas. Los crónicos no cuestan más por caso, pero son más casos.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• </a:t>
            </a:r>
            <a:r>
              <a:rPr lang="en-US" sz="16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Por edad: </a:t>
            </a:r>
            <a:r>
              <a:rPr lang="en-US" sz="16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el gasto escala con la edad — la mediana pasa de $2.800 (18-30) a $4.200 (76+).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6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• </a:t>
            </a:r>
            <a:r>
              <a:rPr lang="en-US" sz="16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Por admisión: </a:t>
            </a:r>
            <a:r>
              <a:rPr lang="en-US" sz="16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Emergency es ~50% más caro que Elective.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Rectangle 19"/>
          <p:cNvSpPr/>
          <p:nvPr/>
        </p:nvSpPr>
        <p:spPr>
          <a:xfrm>
            <a:off x="457200" y="5623560"/>
            <a:ext cx="11246760" cy="776880"/>
          </a:xfrm>
          <a:prstGeom prst="rect">
            <a:avLst/>
          </a:prstGeom>
          <a:solidFill>
            <a:srgbClr val="FFF4E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9" name="Rectangle 20"/>
          <p:cNvSpPr/>
          <p:nvPr/>
        </p:nvSpPr>
        <p:spPr>
          <a:xfrm>
            <a:off x="457200" y="5623560"/>
            <a:ext cx="72720" cy="776880"/>
          </a:xfrm>
          <a:prstGeom prst="rect">
            <a:avLst/>
          </a:prstGeom>
          <a:solidFill>
            <a:srgbClr val="D8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0" name="TextBox 21"/>
          <p:cNvSpPr/>
          <p:nvPr/>
        </p:nvSpPr>
        <p:spPr>
          <a:xfrm>
            <a:off x="731520" y="5715000"/>
            <a:ext cx="109724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D88C00"/>
                </a:solidFill>
                <a:effectLst/>
                <a:uFillTx/>
                <a:latin typeface="Calibri"/>
              </a:rPr>
              <a:t>⚠  Basic, Silver, Gold y Platinum generan billing medio SIMILAR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22"/>
          <p:cNvSpPr/>
          <p:nvPr/>
        </p:nvSpPr>
        <p:spPr>
          <a:xfrm>
            <a:off x="731520" y="603504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O el pricing está mal, o los planes no diferencian el nivel real de servicio. Hay plata dejada en la mesa.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23"/>
          <p:cNvSpPr/>
          <p:nvPr/>
        </p:nvSpPr>
        <p:spPr>
          <a:xfrm>
            <a:off x="457200" y="65836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TP Analytics ITBA · Prepaga de salud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24"/>
          <p:cNvSpPr/>
          <p:nvPr/>
        </p:nvSpPr>
        <p:spPr>
          <a:xfrm>
            <a:off x="10332720" y="658368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6 /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TextBox 2"/>
          <p:cNvSpPr/>
          <p:nvPr/>
        </p:nvSpPr>
        <p:spPr>
          <a:xfrm>
            <a:off x="457200" y="32004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07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Box 3"/>
          <p:cNvSpPr/>
          <p:nvPr/>
        </p:nvSpPr>
        <p:spPr>
          <a:xfrm>
            <a:off x="82296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Modelos predictivos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4"/>
          <p:cNvSpPr/>
          <p:nvPr/>
        </p:nvSpPr>
        <p:spPr>
          <a:xfrm>
            <a:off x="457200" y="7772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¿Podemos anticipar un paciente caro?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Box 5"/>
          <p:cNvSpPr/>
          <p:nvPr/>
        </p:nvSpPr>
        <p:spPr>
          <a:xfrm>
            <a:off x="457200" y="178308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Target: Alto Costo = 1 si Billing &gt; percentil 75 ($4.652)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Rectangle 6"/>
          <p:cNvSpPr/>
          <p:nvPr/>
        </p:nvSpPr>
        <p:spPr>
          <a:xfrm>
            <a:off x="457200" y="2286000"/>
            <a:ext cx="5486040" cy="255996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Rectangle 7"/>
          <p:cNvSpPr/>
          <p:nvPr/>
        </p:nvSpPr>
        <p:spPr>
          <a:xfrm>
            <a:off x="457200" y="2286000"/>
            <a:ext cx="5486040" cy="4568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1" name="TextBox 8"/>
          <p:cNvSpPr/>
          <p:nvPr/>
        </p:nvSpPr>
        <p:spPr>
          <a:xfrm>
            <a:off x="731520" y="2377440"/>
            <a:ext cx="54860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Regresión Logística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Box 9"/>
          <p:cNvSpPr/>
          <p:nvPr/>
        </p:nvSpPr>
        <p:spPr>
          <a:xfrm>
            <a:off x="731520" y="2971800"/>
            <a:ext cx="49374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0.934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Box 10"/>
          <p:cNvSpPr/>
          <p:nvPr/>
        </p:nvSpPr>
        <p:spPr>
          <a:xfrm>
            <a:off x="731520" y="384048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AUC (excelente, &gt; 0.9)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Rectangle 11"/>
          <p:cNvSpPr/>
          <p:nvPr/>
        </p:nvSpPr>
        <p:spPr>
          <a:xfrm>
            <a:off x="731520" y="4206240"/>
            <a:ext cx="4937400" cy="18000"/>
          </a:xfrm>
          <a:prstGeom prst="rect">
            <a:avLst/>
          </a:prstGeom>
          <a:solidFill>
            <a:srgbClr val="E1E1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5" name="TextBox 12"/>
          <p:cNvSpPr/>
          <p:nvPr/>
        </p:nvSpPr>
        <p:spPr>
          <a:xfrm>
            <a:off x="731520" y="429768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81.7%  — recall @ top 30%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Rectangle 13"/>
          <p:cNvSpPr/>
          <p:nvPr/>
        </p:nvSpPr>
        <p:spPr>
          <a:xfrm>
            <a:off x="6217920" y="2286000"/>
            <a:ext cx="5486040" cy="255996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7" name="Rectangle 14"/>
          <p:cNvSpPr/>
          <p:nvPr/>
        </p:nvSpPr>
        <p:spPr>
          <a:xfrm>
            <a:off x="6217920" y="2286000"/>
            <a:ext cx="5486040" cy="45684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8" name="TextBox 15"/>
          <p:cNvSpPr/>
          <p:nvPr/>
        </p:nvSpPr>
        <p:spPr>
          <a:xfrm>
            <a:off x="6492240" y="2377440"/>
            <a:ext cx="54860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Árbol de Decisiones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Box 16"/>
          <p:cNvSpPr/>
          <p:nvPr/>
        </p:nvSpPr>
        <p:spPr>
          <a:xfrm>
            <a:off x="6492240" y="2971800"/>
            <a:ext cx="49374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60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0.933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17"/>
          <p:cNvSpPr/>
          <p:nvPr/>
        </p:nvSpPr>
        <p:spPr>
          <a:xfrm>
            <a:off x="6492240" y="384048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AUC (excelente, &gt; 0.9)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Rectangle 18"/>
          <p:cNvSpPr/>
          <p:nvPr/>
        </p:nvSpPr>
        <p:spPr>
          <a:xfrm>
            <a:off x="6492240" y="4206240"/>
            <a:ext cx="4937400" cy="18000"/>
          </a:xfrm>
          <a:prstGeom prst="rect">
            <a:avLst/>
          </a:prstGeom>
          <a:solidFill>
            <a:srgbClr val="E1E1E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TextBox 19"/>
          <p:cNvSpPr/>
          <p:nvPr/>
        </p:nvSpPr>
        <p:spPr>
          <a:xfrm>
            <a:off x="6492240" y="429768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80.7%  — recall @ top 30%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Rectangle 20"/>
          <p:cNvSpPr/>
          <p:nvPr/>
        </p:nvSpPr>
        <p:spPr>
          <a:xfrm>
            <a:off x="457200" y="5212080"/>
            <a:ext cx="11246760" cy="118836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Box 21"/>
          <p:cNvSpPr/>
          <p:nvPr/>
        </p:nvSpPr>
        <p:spPr>
          <a:xfrm>
            <a:off x="731520" y="534924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Lectura de negocio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22"/>
          <p:cNvSpPr/>
          <p:nvPr/>
        </p:nvSpPr>
        <p:spPr>
          <a:xfrm>
            <a:off x="731520" y="5715000"/>
            <a:ext cx="109724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Interviniendo sólo en el top 30% de pacientes según score, la prepaga captura ~80% de los alto-costo reales. Esto es 70% menos esfuerzo operativo sin perder cobertura.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23"/>
          <p:cNvSpPr/>
          <p:nvPr/>
        </p:nvSpPr>
        <p:spPr>
          <a:xfrm>
            <a:off x="457200" y="65836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TP Analytics ITBA · Prepaga de salud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Box 24"/>
          <p:cNvSpPr/>
          <p:nvPr/>
        </p:nvSpPr>
        <p:spPr>
          <a:xfrm>
            <a:off x="10332720" y="658368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7 /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2"/>
          <p:cNvSpPr/>
          <p:nvPr/>
        </p:nvSpPr>
        <p:spPr>
          <a:xfrm>
            <a:off x="457200" y="32004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08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3"/>
          <p:cNvSpPr/>
          <p:nvPr/>
        </p:nvSpPr>
        <p:spPr>
          <a:xfrm>
            <a:off x="82296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Segmentación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4"/>
          <p:cNvSpPr/>
          <p:nvPr/>
        </p:nvSpPr>
        <p:spPr>
          <a:xfrm>
            <a:off x="457200" y="7772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Cuatro perfiles de paciente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Box 5"/>
          <p:cNvSpPr/>
          <p:nvPr/>
        </p:nvSpPr>
        <p:spPr>
          <a:xfrm>
            <a:off x="457200" y="1691640"/>
            <a:ext cx="10972440" cy="19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K-means (aprendizaje no supervisado) sobre Age + Duration + Billing | clase 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Rectangle 6"/>
          <p:cNvSpPr/>
          <p:nvPr/>
        </p:nvSpPr>
        <p:spPr>
          <a:xfrm>
            <a:off x="457200" y="2103120"/>
            <a:ext cx="5486040" cy="187416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Rectangle 7"/>
          <p:cNvSpPr/>
          <p:nvPr/>
        </p:nvSpPr>
        <p:spPr>
          <a:xfrm>
            <a:off x="457200" y="2103120"/>
            <a:ext cx="72720" cy="187416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5" name="TextBox 8"/>
          <p:cNvSpPr/>
          <p:nvPr/>
        </p:nvSpPr>
        <p:spPr>
          <a:xfrm>
            <a:off x="731520" y="221292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Cluster 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Rectangle 9"/>
          <p:cNvSpPr/>
          <p:nvPr/>
        </p:nvSpPr>
        <p:spPr>
          <a:xfrm>
            <a:off x="1920240" y="2249280"/>
            <a:ext cx="1371240" cy="228240"/>
          </a:xfrm>
          <a:prstGeom prst="rect">
            <a:avLst/>
          </a:prstGeom>
          <a:solidFill>
            <a:srgbClr val="D8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7" name="TextBox 10"/>
          <p:cNvSpPr/>
          <p:nvPr/>
        </p:nvSpPr>
        <p:spPr>
          <a:xfrm>
            <a:off x="1920240" y="2277000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PRIORIDAD ALTA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Box 11"/>
          <p:cNvSpPr/>
          <p:nvPr/>
        </p:nvSpPr>
        <p:spPr>
          <a:xfrm>
            <a:off x="3657600" y="221292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21.4% de la cartera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12"/>
          <p:cNvSpPr/>
          <p:nvPr/>
        </p:nvSpPr>
        <p:spPr>
          <a:xfrm>
            <a:off x="731520" y="260604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EDAD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13"/>
          <p:cNvSpPr/>
          <p:nvPr/>
        </p:nvSpPr>
        <p:spPr>
          <a:xfrm>
            <a:off x="731520" y="280728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68 años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14"/>
          <p:cNvSpPr/>
          <p:nvPr/>
        </p:nvSpPr>
        <p:spPr>
          <a:xfrm>
            <a:off x="2423160" y="260604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DURACIÓN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Box 15"/>
          <p:cNvSpPr/>
          <p:nvPr/>
        </p:nvSpPr>
        <p:spPr>
          <a:xfrm>
            <a:off x="2423160" y="280728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6.5 días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Box 16"/>
          <p:cNvSpPr/>
          <p:nvPr/>
        </p:nvSpPr>
        <p:spPr>
          <a:xfrm>
            <a:off x="4114800" y="260604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BILLING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Box 17"/>
          <p:cNvSpPr/>
          <p:nvPr/>
        </p:nvSpPr>
        <p:spPr>
          <a:xfrm>
            <a:off x="4114800" y="280728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$5.716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18"/>
          <p:cNvSpPr/>
          <p:nvPr/>
        </p:nvSpPr>
        <p:spPr>
          <a:xfrm>
            <a:off x="731520" y="342900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Mayores · internaciones cortas y caras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Rectangle 19"/>
          <p:cNvSpPr/>
          <p:nvPr/>
        </p:nvSpPr>
        <p:spPr>
          <a:xfrm>
            <a:off x="6080760" y="2103120"/>
            <a:ext cx="5486040" cy="187416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7" name="Rectangle 20"/>
          <p:cNvSpPr/>
          <p:nvPr/>
        </p:nvSpPr>
        <p:spPr>
          <a:xfrm>
            <a:off x="6080760" y="2103120"/>
            <a:ext cx="72720" cy="187416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8" name="TextBox 21"/>
          <p:cNvSpPr/>
          <p:nvPr/>
        </p:nvSpPr>
        <p:spPr>
          <a:xfrm>
            <a:off x="6355080" y="221292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Cluster 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22"/>
          <p:cNvSpPr/>
          <p:nvPr/>
        </p:nvSpPr>
        <p:spPr>
          <a:xfrm>
            <a:off x="9281160" y="221292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26.1% de la cartera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23"/>
          <p:cNvSpPr/>
          <p:nvPr/>
        </p:nvSpPr>
        <p:spPr>
          <a:xfrm>
            <a:off x="6355080" y="260604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EDAD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Box 24"/>
          <p:cNvSpPr/>
          <p:nvPr/>
        </p:nvSpPr>
        <p:spPr>
          <a:xfrm>
            <a:off x="6355080" y="280728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34 años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25"/>
          <p:cNvSpPr/>
          <p:nvPr/>
        </p:nvSpPr>
        <p:spPr>
          <a:xfrm>
            <a:off x="8046720" y="260604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DURACIÓN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Box 26"/>
          <p:cNvSpPr/>
          <p:nvPr/>
        </p:nvSpPr>
        <p:spPr>
          <a:xfrm>
            <a:off x="8046720" y="280728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10.6 días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TextBox 27"/>
          <p:cNvSpPr/>
          <p:nvPr/>
        </p:nvSpPr>
        <p:spPr>
          <a:xfrm>
            <a:off x="9738360" y="260604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BILLING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Box 28"/>
          <p:cNvSpPr/>
          <p:nvPr/>
        </p:nvSpPr>
        <p:spPr>
          <a:xfrm>
            <a:off x="9738360" y="280728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$2.342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29"/>
          <p:cNvSpPr/>
          <p:nvPr/>
        </p:nvSpPr>
        <p:spPr>
          <a:xfrm>
            <a:off x="6355080" y="342900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Jóvenes · internaciones largas y baratas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Rectangle 30"/>
          <p:cNvSpPr/>
          <p:nvPr/>
        </p:nvSpPr>
        <p:spPr>
          <a:xfrm>
            <a:off x="457200" y="4114800"/>
            <a:ext cx="5486040" cy="187416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8" name="Rectangle 31"/>
          <p:cNvSpPr/>
          <p:nvPr/>
        </p:nvSpPr>
        <p:spPr>
          <a:xfrm>
            <a:off x="457200" y="4114800"/>
            <a:ext cx="72720" cy="187416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9" name="TextBox 32"/>
          <p:cNvSpPr/>
          <p:nvPr/>
        </p:nvSpPr>
        <p:spPr>
          <a:xfrm>
            <a:off x="731520" y="422460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Cluster 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33"/>
          <p:cNvSpPr/>
          <p:nvPr/>
        </p:nvSpPr>
        <p:spPr>
          <a:xfrm>
            <a:off x="3657600" y="422460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25.5% de la cartera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Box 34"/>
          <p:cNvSpPr/>
          <p:nvPr/>
        </p:nvSpPr>
        <p:spPr>
          <a:xfrm>
            <a:off x="731520" y="461772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EDAD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35"/>
          <p:cNvSpPr/>
          <p:nvPr/>
        </p:nvSpPr>
        <p:spPr>
          <a:xfrm>
            <a:off x="731520" y="481896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41 años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Box 36"/>
          <p:cNvSpPr/>
          <p:nvPr/>
        </p:nvSpPr>
        <p:spPr>
          <a:xfrm>
            <a:off x="2423160" y="461772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DURACIÓN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Box 37"/>
          <p:cNvSpPr/>
          <p:nvPr/>
        </p:nvSpPr>
        <p:spPr>
          <a:xfrm>
            <a:off x="2423160" y="481896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6.0 días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Box 38"/>
          <p:cNvSpPr/>
          <p:nvPr/>
        </p:nvSpPr>
        <p:spPr>
          <a:xfrm>
            <a:off x="4114800" y="461772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BILLING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Box 39"/>
          <p:cNvSpPr/>
          <p:nvPr/>
        </p:nvSpPr>
        <p:spPr>
          <a:xfrm>
            <a:off x="4114800" y="481896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$4.020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Box 40"/>
          <p:cNvSpPr/>
          <p:nvPr/>
        </p:nvSpPr>
        <p:spPr>
          <a:xfrm>
            <a:off x="731520" y="544068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Adultos · internaciones cortas costo medio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Rectangle 41"/>
          <p:cNvSpPr/>
          <p:nvPr/>
        </p:nvSpPr>
        <p:spPr>
          <a:xfrm>
            <a:off x="6080760" y="4114800"/>
            <a:ext cx="5486040" cy="187416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9" name="Rectangle 42"/>
          <p:cNvSpPr/>
          <p:nvPr/>
        </p:nvSpPr>
        <p:spPr>
          <a:xfrm>
            <a:off x="6080760" y="4114800"/>
            <a:ext cx="72720" cy="187416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0" name="TextBox 43"/>
          <p:cNvSpPr/>
          <p:nvPr/>
        </p:nvSpPr>
        <p:spPr>
          <a:xfrm>
            <a:off x="6355080" y="4224600"/>
            <a:ext cx="11883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Cluster 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44"/>
          <p:cNvSpPr/>
          <p:nvPr/>
        </p:nvSpPr>
        <p:spPr>
          <a:xfrm>
            <a:off x="9281160" y="4224600"/>
            <a:ext cx="21027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27.0% de la cartera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Box 45"/>
          <p:cNvSpPr/>
          <p:nvPr/>
        </p:nvSpPr>
        <p:spPr>
          <a:xfrm>
            <a:off x="6355080" y="461772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EDAD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46"/>
          <p:cNvSpPr/>
          <p:nvPr/>
        </p:nvSpPr>
        <p:spPr>
          <a:xfrm>
            <a:off x="6355080" y="481896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66 años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47"/>
          <p:cNvSpPr/>
          <p:nvPr/>
        </p:nvSpPr>
        <p:spPr>
          <a:xfrm>
            <a:off x="8046720" y="461772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DURACIÓN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48"/>
          <p:cNvSpPr/>
          <p:nvPr/>
        </p:nvSpPr>
        <p:spPr>
          <a:xfrm>
            <a:off x="8046720" y="481896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10.6 días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49"/>
          <p:cNvSpPr/>
          <p:nvPr/>
        </p:nvSpPr>
        <p:spPr>
          <a:xfrm>
            <a:off x="9738360" y="4617720"/>
            <a:ext cx="1645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BILLING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50"/>
          <p:cNvSpPr/>
          <p:nvPr/>
        </p:nvSpPr>
        <p:spPr>
          <a:xfrm>
            <a:off x="9738360" y="4818960"/>
            <a:ext cx="1645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$3.084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51"/>
          <p:cNvSpPr/>
          <p:nvPr/>
        </p:nvSpPr>
        <p:spPr>
          <a:xfrm>
            <a:off x="6355080" y="5440680"/>
            <a:ext cx="5028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Mayores · internaciones largas costo medio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52"/>
          <p:cNvSpPr/>
          <p:nvPr/>
        </p:nvSpPr>
        <p:spPr>
          <a:xfrm>
            <a:off x="457200" y="6126480"/>
            <a:ext cx="109724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Permite a la prepaga diseñar intervenciones específicas por segmento en lugar de campañas genéricas.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Box 53"/>
          <p:cNvSpPr/>
          <p:nvPr/>
        </p:nvSpPr>
        <p:spPr>
          <a:xfrm>
            <a:off x="457200" y="65836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TP Analytics ITBA · Prepaga de salud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Box 54"/>
          <p:cNvSpPr/>
          <p:nvPr/>
        </p:nvSpPr>
        <p:spPr>
          <a:xfrm>
            <a:off x="10332720" y="658368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8 /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3" name="TextBox 2"/>
          <p:cNvSpPr/>
          <p:nvPr/>
        </p:nvSpPr>
        <p:spPr>
          <a:xfrm>
            <a:off x="457200" y="32004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09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Box 3"/>
          <p:cNvSpPr/>
          <p:nvPr/>
        </p:nvSpPr>
        <p:spPr>
          <a:xfrm>
            <a:off x="82296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Conclusiones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Box 4"/>
          <p:cNvSpPr/>
          <p:nvPr/>
        </p:nvSpPr>
        <p:spPr>
          <a:xfrm>
            <a:off x="457200" y="7772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Qué le decimos a la prepaga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6" name="Rectangle 5"/>
          <p:cNvSpPr/>
          <p:nvPr/>
        </p:nvSpPr>
        <p:spPr>
          <a:xfrm>
            <a:off x="365760" y="1828800"/>
            <a:ext cx="3794400" cy="420588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7" name="Rectangle 6"/>
          <p:cNvSpPr/>
          <p:nvPr/>
        </p:nvSpPr>
        <p:spPr>
          <a:xfrm>
            <a:off x="365760" y="1828800"/>
            <a:ext cx="3794400" cy="63972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8" name="TextBox 7"/>
          <p:cNvSpPr/>
          <p:nvPr/>
        </p:nvSpPr>
        <p:spPr>
          <a:xfrm>
            <a:off x="594360" y="196596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8"/>
          <p:cNvSpPr/>
          <p:nvPr/>
        </p:nvSpPr>
        <p:spPr>
          <a:xfrm>
            <a:off x="594360" y="2651760"/>
            <a:ext cx="333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Priorizar prevención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Box 9"/>
          <p:cNvSpPr/>
          <p:nvPr/>
        </p:nvSpPr>
        <p:spPr>
          <a:xfrm>
            <a:off x="594360" y="3200400"/>
            <a:ext cx="333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Obesidad e Hipertensión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Rectangle 10"/>
          <p:cNvSpPr/>
          <p:nvPr/>
        </p:nvSpPr>
        <p:spPr>
          <a:xfrm>
            <a:off x="594360" y="3749040"/>
            <a:ext cx="456840" cy="180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2" name="TextBox 11"/>
          <p:cNvSpPr/>
          <p:nvPr/>
        </p:nvSpPr>
        <p:spPr>
          <a:xfrm>
            <a:off x="594360" y="3931920"/>
            <a:ext cx="333720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45% de la cartera · más de 1/3 del gasto total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Bajar 10% sus internaciones mueve más la aguja que cualquier otra intervención.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Rectangle 12"/>
          <p:cNvSpPr/>
          <p:nvPr/>
        </p:nvSpPr>
        <p:spPr>
          <a:xfrm>
            <a:off x="4251960" y="1828800"/>
            <a:ext cx="3794400" cy="420588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4" name="Rectangle 13"/>
          <p:cNvSpPr/>
          <p:nvPr/>
        </p:nvSpPr>
        <p:spPr>
          <a:xfrm>
            <a:off x="4251960" y="1828800"/>
            <a:ext cx="3794400" cy="63972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5" name="TextBox 14"/>
          <p:cNvSpPr/>
          <p:nvPr/>
        </p:nvSpPr>
        <p:spPr>
          <a:xfrm>
            <a:off x="4480560" y="196596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Box 15"/>
          <p:cNvSpPr/>
          <p:nvPr/>
        </p:nvSpPr>
        <p:spPr>
          <a:xfrm>
            <a:off x="4480560" y="2651760"/>
            <a:ext cx="333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Rediseñar planes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Box 16"/>
          <p:cNvSpPr/>
          <p:nvPr/>
        </p:nvSpPr>
        <p:spPr>
          <a:xfrm>
            <a:off x="4480560" y="3200400"/>
            <a:ext cx="333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Basic ≈ Platinum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Rectangle 17"/>
          <p:cNvSpPr/>
          <p:nvPr/>
        </p:nvSpPr>
        <p:spPr>
          <a:xfrm>
            <a:off x="4480560" y="3749040"/>
            <a:ext cx="456840" cy="1800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9" name="TextBox 18"/>
          <p:cNvSpPr/>
          <p:nvPr/>
        </p:nvSpPr>
        <p:spPr>
          <a:xfrm>
            <a:off x="4480560" y="3931920"/>
            <a:ext cx="333720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El billing medio es similar entre planes.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Hay un problema de pricing o diferenciación real. Plata dejada en la mesa.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Rectangle 19"/>
          <p:cNvSpPr/>
          <p:nvPr/>
        </p:nvSpPr>
        <p:spPr>
          <a:xfrm>
            <a:off x="8138160" y="1828800"/>
            <a:ext cx="3794400" cy="420588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1" name="Rectangle 20"/>
          <p:cNvSpPr/>
          <p:nvPr/>
        </p:nvSpPr>
        <p:spPr>
          <a:xfrm>
            <a:off x="8138160" y="1828800"/>
            <a:ext cx="3794400" cy="63972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2" name="TextBox 21"/>
          <p:cNvSpPr/>
          <p:nvPr/>
        </p:nvSpPr>
        <p:spPr>
          <a:xfrm>
            <a:off x="8366760" y="1965960"/>
            <a:ext cx="914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03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22"/>
          <p:cNvSpPr/>
          <p:nvPr/>
        </p:nvSpPr>
        <p:spPr>
          <a:xfrm>
            <a:off x="8366760" y="2651760"/>
            <a:ext cx="333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Limpiar la carga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Box 23"/>
          <p:cNvSpPr/>
          <p:nvPr/>
        </p:nvSpPr>
        <p:spPr>
          <a:xfrm>
            <a:off x="8366760" y="3200400"/>
            <a:ext cx="33372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Data sucia = modelos ruidosos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Rectangle 24"/>
          <p:cNvSpPr/>
          <p:nvPr/>
        </p:nvSpPr>
        <p:spPr>
          <a:xfrm>
            <a:off x="8366760" y="3749040"/>
            <a:ext cx="456840" cy="180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26640" rIns="90000" bIns="-26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6" name="TextBox 25"/>
          <p:cNvSpPr/>
          <p:nvPr/>
        </p:nvSpPr>
        <p:spPr>
          <a:xfrm>
            <a:off x="8366760" y="3931920"/>
            <a:ext cx="3337200" cy="191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19% sin medicamento · 34 bebés con crónicos · Gender inconsistente.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Problemas operativos, no analíticos. Arreglar antes de escalar.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26"/>
          <p:cNvSpPr/>
          <p:nvPr/>
        </p:nvSpPr>
        <p:spPr>
          <a:xfrm>
            <a:off x="457200" y="6583680"/>
            <a:ext cx="5486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TP Analytics ITBA · Prepaga de salud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Box 27"/>
          <p:cNvSpPr/>
          <p:nvPr/>
        </p:nvSpPr>
        <p:spPr>
          <a:xfrm>
            <a:off x="10332720" y="658368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r" defTabSz="457200">
              <a:lnSpc>
                <a:spcPct val="100000"/>
              </a:lnSpc>
            </a:pPr>
            <a:r>
              <a:rPr lang="en-US" sz="10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9 / 10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Rectangle 1"/>
          <p:cNvSpPr/>
          <p:nvPr/>
        </p:nvSpPr>
        <p:spPr>
          <a:xfrm>
            <a:off x="0" y="0"/>
            <a:ext cx="12191400" cy="7272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28080" rIns="90000" bIns="280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0" name="TextBox 2"/>
          <p:cNvSpPr/>
          <p:nvPr/>
        </p:nvSpPr>
        <p:spPr>
          <a:xfrm>
            <a:off x="457200" y="320040"/>
            <a:ext cx="914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10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3"/>
          <p:cNvSpPr/>
          <p:nvPr/>
        </p:nvSpPr>
        <p:spPr>
          <a:xfrm>
            <a:off x="822960" y="320040"/>
            <a:ext cx="9143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605E5C"/>
                </a:solidFill>
                <a:effectLst/>
                <a:uFillTx/>
                <a:latin typeface="Calibri"/>
              </a:rPr>
              <a:t>Limitaciones y próximos pasos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Box 4"/>
          <p:cNvSpPr/>
          <p:nvPr/>
        </p:nvSpPr>
        <p:spPr>
          <a:xfrm>
            <a:off x="457200" y="777240"/>
            <a:ext cx="1097244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Lo que no pudimos responder y por qué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Rectangle 5"/>
          <p:cNvSpPr/>
          <p:nvPr/>
        </p:nvSpPr>
        <p:spPr>
          <a:xfrm>
            <a:off x="457200" y="1828800"/>
            <a:ext cx="5394600" cy="45684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4" name="TextBox 6"/>
          <p:cNvSpPr/>
          <p:nvPr/>
        </p:nvSpPr>
        <p:spPr>
          <a:xfrm>
            <a:off x="640080" y="1920240"/>
            <a:ext cx="5394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DATOS QUE FALTAN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Rectangle 7"/>
          <p:cNvSpPr/>
          <p:nvPr/>
        </p:nvSpPr>
        <p:spPr>
          <a:xfrm>
            <a:off x="457200" y="2286000"/>
            <a:ext cx="5394600" cy="347436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6" name="TextBox 8"/>
          <p:cNvSpPr/>
          <p:nvPr/>
        </p:nvSpPr>
        <p:spPr>
          <a:xfrm>
            <a:off x="685800" y="2468880"/>
            <a:ext cx="493740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4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• </a:t>
            </a:r>
            <a:r>
              <a:rPr lang="en-US" sz="14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ID anonimizado de paciente. </a:t>
            </a:r>
            <a:r>
              <a:rPr lang="en-US" sz="14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Sin esto no hay análisis longitudinal ni detección de reingresos. La limitación más grande.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4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• </a:t>
            </a:r>
            <a:r>
              <a:rPr lang="en-US" sz="14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Severidad de la condición. </a:t>
            </a:r>
            <a:r>
              <a:rPr lang="en-US" sz="14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Un diabético controlado no es lo mismo que uno con complicaciones renales.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4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• </a:t>
            </a:r>
            <a:r>
              <a:rPr lang="en-US" sz="14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Costos desglosados. </a:t>
            </a:r>
            <a:r>
              <a:rPr lang="en-US" sz="14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Billing total sin saber cuánto es medicamento, cama o estudios.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400" b="1" u="none" strike="noStrike">
                <a:solidFill>
                  <a:srgbClr val="003366"/>
                </a:solidFill>
                <a:effectLst/>
                <a:uFillTx/>
                <a:latin typeface="Calibri"/>
              </a:rPr>
              <a:t>• </a:t>
            </a:r>
            <a:r>
              <a:rPr lang="en-US" sz="1400" b="1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Datos socioeconómicos. </a:t>
            </a:r>
            <a:r>
              <a:rPr lang="en-US" sz="14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Para entender adherencia a tratamientos y segmentar mejor.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Rectangle 9"/>
          <p:cNvSpPr/>
          <p:nvPr/>
        </p:nvSpPr>
        <p:spPr>
          <a:xfrm>
            <a:off x="6309360" y="1828800"/>
            <a:ext cx="5394600" cy="45684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8" name="TextBox 10"/>
          <p:cNvSpPr/>
          <p:nvPr/>
        </p:nvSpPr>
        <p:spPr>
          <a:xfrm>
            <a:off x="6492240" y="1920240"/>
            <a:ext cx="5394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PREGUNTAS ABIERTAS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Rectangle 11"/>
          <p:cNvSpPr/>
          <p:nvPr/>
        </p:nvSpPr>
        <p:spPr>
          <a:xfrm>
            <a:off x="6309360" y="2286000"/>
            <a:ext cx="5394600" cy="3474360"/>
          </a:xfrm>
          <a:prstGeom prst="rect">
            <a:avLst/>
          </a:prstGeom>
          <a:solidFill>
            <a:srgbClr val="FFFFFF"/>
          </a:solidFill>
          <a:ln>
            <a:solidFill>
              <a:srgbClr val="E1E1E1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0" name="TextBox 12"/>
          <p:cNvSpPr/>
          <p:nvPr/>
        </p:nvSpPr>
        <p:spPr>
          <a:xfrm>
            <a:off x="6537960" y="2468880"/>
            <a:ext cx="4937400" cy="329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4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• </a:t>
            </a:r>
            <a:r>
              <a:rPr lang="en-US" sz="14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¿Hay estacionalidad en las admisiones? (asma en invierno, etc.)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4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• </a:t>
            </a:r>
            <a:r>
              <a:rPr lang="en-US" sz="14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¿Qué son los 1108 "Healthy" internados? ¿Chequeos preventivos?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4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• </a:t>
            </a:r>
            <a:r>
              <a:rPr lang="en-US" sz="14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¿Los bebés con patologías crónicas son errores? ¿Hijos cubiertos por el plan de la madre?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4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• </a:t>
            </a:r>
            <a:r>
              <a:rPr lang="en-US" sz="14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¿Cuál es la tasa de reingreso por condición?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400" b="1" u="none" strike="noStrike">
                <a:solidFill>
                  <a:srgbClr val="0078D4"/>
                </a:solidFill>
                <a:effectLst/>
                <a:uFillTx/>
                <a:latin typeface="Calibri"/>
              </a:rPr>
              <a:t>• </a:t>
            </a:r>
            <a:r>
              <a:rPr lang="en-US" sz="1400" b="0" u="none" strike="noStrike">
                <a:solidFill>
                  <a:srgbClr val="323130"/>
                </a:solidFill>
                <a:effectLst/>
                <a:uFillTx/>
                <a:latin typeface="Calibri"/>
              </a:rPr>
              <a:t>¿Los costos crecieron año a año?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Rectangle 3"/>
          <p:cNvSpPr/>
          <p:nvPr/>
        </p:nvSpPr>
        <p:spPr>
          <a:xfrm>
            <a:off x="360" y="0"/>
            <a:ext cx="12191400" cy="6858000"/>
          </a:xfrm>
          <a:prstGeom prst="rect">
            <a:avLst/>
          </a:prstGeom>
          <a:solidFill>
            <a:srgbClr val="00336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2" name="TextBox 1"/>
          <p:cNvSpPr/>
          <p:nvPr/>
        </p:nvSpPr>
        <p:spPr>
          <a:xfrm>
            <a:off x="472680" y="2743200"/>
            <a:ext cx="11246760" cy="121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lang="en-US" sz="8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Gracias</a:t>
            </a:r>
            <a:endParaRPr lang="en-U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Rectangle 4"/>
          <p:cNvSpPr/>
          <p:nvPr/>
        </p:nvSpPr>
        <p:spPr>
          <a:xfrm>
            <a:off x="360" y="6584040"/>
            <a:ext cx="12191400" cy="273960"/>
          </a:xfrm>
          <a:prstGeom prst="rect">
            <a:avLst/>
          </a:prstGeom>
          <a:solidFill>
            <a:srgbClr val="0078D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14" name="TextBox 41"/>
          <p:cNvSpPr/>
          <p:nvPr/>
        </p:nvSpPr>
        <p:spPr>
          <a:xfrm>
            <a:off x="228600" y="6172200"/>
            <a:ext cx="1005804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rgbClr val="729FCF"/>
                </a:solidFill>
                <a:effectLst/>
                <a:uFillTx/>
                <a:latin typeface="Calibri"/>
              </a:rPr>
              <a:t>TP Final de Analytics · ITBA · Abril 2026</a:t>
            </a:r>
            <a:endParaRPr lang="en-US" sz="1800" b="0" u="none" strike="noStrike">
              <a:solidFill>
                <a:srgbClr val="729FC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LibreOffice/26.2.2.2$Linux_X86_64 LibreOffice_project/620$Build-2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2026-04-21T14:48:49Z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