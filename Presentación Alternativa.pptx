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1" r:id="rId21"/>
    <p:sldId id="267" r:id="rId16"/>
    <p:sldId id="272" r:id="rId22"/>
    <p:sldId id="268" r:id="rId17"/>
    <p:sldId id="269" r:id="rId18"/>
    <p:sldId id="270" r:id="rId19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8yp2dTI+rDp0E6UYrqoB8E6b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customschemas.google.com/relationships/presentationmetadata" Target="metadata"/><Relationship Id="rId21" Type="http://schemas.openxmlformats.org/officeDocument/2006/relationships/slide" Target="slides/slide12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8ff598e22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8ff598e22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8ff598e22_0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8ff598e22_0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8ff598e22_0_7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8ff598e22_0_7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8ff598e22_0_9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d8ff598e22_0_9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3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marR="0" rtl="0" algn="l"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7180" lvl="2" marL="1371600" marR="0" rtl="0" algn="l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20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20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20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2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2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22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31800" lvl="0" marL="457200" marR="0" rtl="0" algn="l"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rtl="0" algn="l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004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004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004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23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0" y="3246120"/>
            <a:ext cx="1645560" cy="543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914400" y="2194560"/>
            <a:ext cx="1005804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</a:t>
            </a: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Prepaga de Salud</a:t>
            </a:r>
            <a:endParaRPr b="0" sz="5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914400" y="3429000"/>
            <a:ext cx="100580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 Final de Analytics · ITBA · Abril 2026</a:t>
            </a:r>
            <a:endParaRPr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914400" y="4114800"/>
            <a:ext cx="1005804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29FCF"/>
                </a:solidFill>
                <a:latin typeface="Calibri"/>
                <a:ea typeface="Calibri"/>
                <a:cs typeface="Calibri"/>
                <a:sym typeface="Calibri"/>
              </a:rPr>
              <a:t>Agustín Sarasúa - 63548</a:t>
            </a:r>
            <a:endParaRPr sz="1800">
              <a:solidFill>
                <a:srgbClr val="729FC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29FCF"/>
                </a:solidFill>
                <a:latin typeface="Calibri"/>
                <a:ea typeface="Calibri"/>
                <a:cs typeface="Calibri"/>
                <a:sym typeface="Calibri"/>
              </a:rPr>
              <a:t>Mariano Oms - 62080</a:t>
            </a:r>
            <a:endParaRPr sz="1800">
              <a:solidFill>
                <a:srgbClr val="729FC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29FCF"/>
                </a:solidFill>
                <a:latin typeface="Calibri"/>
                <a:ea typeface="Calibri"/>
                <a:cs typeface="Calibri"/>
                <a:sym typeface="Calibri"/>
              </a:rPr>
              <a:t>Agustín Cabantous - 61808</a:t>
            </a:r>
            <a:endParaRPr sz="1800">
              <a:solidFill>
                <a:srgbClr val="729FC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583680"/>
            <a:ext cx="12191400" cy="2739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14400" y="6035040"/>
            <a:ext cx="10058040" cy="21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healthcare_tp.csv · 6.000 atenciones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02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Contexto del análisis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El dataset</a:t>
            </a: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7200" y="1783080"/>
            <a:ext cx="2468520" cy="1188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57200" y="1920240"/>
            <a:ext cx="24685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6.000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57200" y="2468880"/>
            <a:ext cx="24685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atenciones con internación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108960" y="1783080"/>
            <a:ext cx="2468520" cy="1188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3108960" y="1920240"/>
            <a:ext cx="24685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108960" y="2468880"/>
            <a:ext cx="24685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columnas de datos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760720" y="1783080"/>
            <a:ext cx="2468520" cy="1188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760720" y="1920240"/>
            <a:ext cx="24685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2023-2025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760720" y="2468880"/>
            <a:ext cx="24685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período cubierto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8412480" y="1783080"/>
            <a:ext cx="2468520" cy="1188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412480" y="1920240"/>
            <a:ext cx="24685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412480" y="2468880"/>
            <a:ext cx="24685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prepagas y 4 planes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57200" y="3703330"/>
            <a:ext cx="10972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El problema planteado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57200" y="4251970"/>
            <a:ext cx="109725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Describir la cartera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— quiénes son los asegurados y cómo se distribuyen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Analizar el uso del sistema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— internaciones, medicamentos, resultados de tests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Identificar diferencias en billing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— ¿quién genera más costo y por qué?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Generar insights accionables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— recomendaciones concretas para la prepaga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2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03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Calidad de datos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ntes de analizar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57200" y="1828800"/>
            <a:ext cx="5394600" cy="548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40080" y="1938600"/>
            <a:ext cx="5394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 DETECTADOS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57200" y="2377440"/>
            <a:ext cx="5394600" cy="361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85800" y="2560320"/>
            <a:ext cx="4937400" cy="3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1112 registros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sin medicamento (~19%)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30 registros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sin condición médica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20 registros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sin Billing Amount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Gender inconsistente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MALE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y “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Male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rgbClr val="3231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34 bebés (edad 0)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con cáncer, HTA, obesidad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51% de tests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"Abnormal"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309360" y="1828800"/>
            <a:ext cx="5394600" cy="548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492240" y="1938600"/>
            <a:ext cx="5394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HICIMOS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309360" y="2377440"/>
            <a:ext cx="5394600" cy="361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537960" y="2560320"/>
            <a:ext cx="4937400" cy="3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Normalizamos 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el campo “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Gender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Flaggeamos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outliers de billing por IQR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Imputamos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edades 0 con mediana por condición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Mantuvimos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los nulos para análisis 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(Había gente sin medicamentos)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Identificamos 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que 11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r>
              <a:rPr b="0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 sin medicamento son "Healthy" y 4 no tienen </a:t>
            </a:r>
            <a:r>
              <a:rPr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condición medica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3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04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Descripción de la cartera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2288" y="803215"/>
            <a:ext cx="1097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Quiénes son los asegurados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72300" y="1514948"/>
            <a:ext cx="5486100" cy="1507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2300" y="1514948"/>
            <a:ext cx="72600" cy="15075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46608" y="1697818"/>
            <a:ext cx="5028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EDAD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746608" y="2017858"/>
            <a:ext cx="50289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51 años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233000" y="1514948"/>
            <a:ext cx="5486100" cy="1507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233001" y="1514948"/>
            <a:ext cx="72600" cy="15075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507327" y="1697818"/>
            <a:ext cx="5028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GÉNERO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507327" y="2017858"/>
            <a:ext cx="50289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52 / 48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4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4" title="piramide poblacio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0" y="3147200"/>
            <a:ext cx="7212116" cy="331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 title="di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0075" y="3273388"/>
            <a:ext cx="4419025" cy="30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8ff598e22_0_0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8ff598e22_0_0"/>
          <p:cNvSpPr/>
          <p:nvPr/>
        </p:nvSpPr>
        <p:spPr>
          <a:xfrm>
            <a:off x="457200" y="320040"/>
            <a:ext cx="9141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05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8ff598e22_0_0"/>
          <p:cNvSpPr/>
          <p:nvPr/>
        </p:nvSpPr>
        <p:spPr>
          <a:xfrm>
            <a:off x="822960" y="320040"/>
            <a:ext cx="91437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Descripción de la cartera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d8ff598e22_0_0"/>
          <p:cNvSpPr/>
          <p:nvPr/>
        </p:nvSpPr>
        <p:spPr>
          <a:xfrm>
            <a:off x="457200" y="777240"/>
            <a:ext cx="1097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Quiénes son los asegurados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d8ff598e22_0_0"/>
          <p:cNvSpPr/>
          <p:nvPr/>
        </p:nvSpPr>
        <p:spPr>
          <a:xfrm>
            <a:off x="457150" y="1508352"/>
            <a:ext cx="5486100" cy="1279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8ff598e22_0_0"/>
          <p:cNvSpPr/>
          <p:nvPr/>
        </p:nvSpPr>
        <p:spPr>
          <a:xfrm>
            <a:off x="457150" y="1508350"/>
            <a:ext cx="72600" cy="12798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8ff598e22_0_0"/>
          <p:cNvSpPr/>
          <p:nvPr/>
        </p:nvSpPr>
        <p:spPr>
          <a:xfrm>
            <a:off x="731458" y="1691235"/>
            <a:ext cx="5028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PROVIDERS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d8ff598e22_0_0"/>
          <p:cNvSpPr/>
          <p:nvPr/>
        </p:nvSpPr>
        <p:spPr>
          <a:xfrm>
            <a:off x="731458" y="2011275"/>
            <a:ext cx="50289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d8ff598e22_0_0"/>
          <p:cNvSpPr/>
          <p:nvPr/>
        </p:nvSpPr>
        <p:spPr>
          <a:xfrm>
            <a:off x="6217850" y="1508352"/>
            <a:ext cx="5486100" cy="1279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8ff598e22_0_0"/>
          <p:cNvSpPr/>
          <p:nvPr/>
        </p:nvSpPr>
        <p:spPr>
          <a:xfrm>
            <a:off x="6217850" y="1508352"/>
            <a:ext cx="72600" cy="1279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d8ff598e22_0_0"/>
          <p:cNvSpPr/>
          <p:nvPr/>
        </p:nvSpPr>
        <p:spPr>
          <a:xfrm>
            <a:off x="6492177" y="1691235"/>
            <a:ext cx="5028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PLANES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8ff598e22_0_0"/>
          <p:cNvSpPr/>
          <p:nvPr/>
        </p:nvSpPr>
        <p:spPr>
          <a:xfrm>
            <a:off x="6492177" y="2011275"/>
            <a:ext cx="50289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d8ff598e22_0_0"/>
          <p:cNvSpPr/>
          <p:nvPr/>
        </p:nvSpPr>
        <p:spPr>
          <a:xfrm>
            <a:off x="457200" y="6035040"/>
            <a:ext cx="11246700" cy="4569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8ff598e22_0_0"/>
          <p:cNvSpPr/>
          <p:nvPr/>
        </p:nvSpPr>
        <p:spPr>
          <a:xfrm>
            <a:off x="640080" y="6108120"/>
            <a:ext cx="109725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cartera está balanceada demográficamente. Lo desbalanceado pasa adentro del sistema de salud.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d8ff598e22_0_0"/>
          <p:cNvSpPr/>
          <p:nvPr/>
        </p:nvSpPr>
        <p:spPr>
          <a:xfrm>
            <a:off x="457200" y="6583680"/>
            <a:ext cx="5486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8ff598e22_0_0"/>
          <p:cNvSpPr/>
          <p:nvPr/>
        </p:nvSpPr>
        <p:spPr>
          <a:xfrm>
            <a:off x="10332720" y="6583680"/>
            <a:ext cx="1371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5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d8ff598e22_0_0" title="provid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715" y="3005752"/>
            <a:ext cx="4167081" cy="28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d8ff598e22_0_0" title="plan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5075" y="2984575"/>
            <a:ext cx="4167075" cy="2884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06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Uso del sistema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Qué internaciones hay y qué se receta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57200" y="1828800"/>
            <a:ext cx="5486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Condiciones médicas (ranking)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57200" y="2286000"/>
            <a:ext cx="1371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Obesidad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920240" y="2331720"/>
            <a:ext cx="2944080" cy="228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956120" y="2286000"/>
            <a:ext cx="7311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23%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2651760"/>
            <a:ext cx="1371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Hipertensión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920240" y="2697480"/>
            <a:ext cx="2815920" cy="228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827960" y="2651760"/>
            <a:ext cx="7311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57200" y="3017520"/>
            <a:ext cx="1371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Healthy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920240" y="3063240"/>
            <a:ext cx="2304000" cy="228240"/>
          </a:xfrm>
          <a:prstGeom prst="rect">
            <a:avLst/>
          </a:prstGeom>
          <a:solidFill>
            <a:srgbClr val="605E5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316040" y="3017520"/>
            <a:ext cx="7311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57200" y="3383280"/>
            <a:ext cx="1371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Asma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1920240" y="3429000"/>
            <a:ext cx="1791720" cy="2282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803760" y="3383280"/>
            <a:ext cx="7311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57200" y="3749040"/>
            <a:ext cx="1371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Diabetes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920240" y="3794760"/>
            <a:ext cx="1791720" cy="2282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803760" y="3749040"/>
            <a:ext cx="7311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57200" y="4114800"/>
            <a:ext cx="1371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Cáncer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920240" y="4160520"/>
            <a:ext cx="1151640" cy="2282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3163680" y="4114800"/>
            <a:ext cx="7311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583675" y="1828800"/>
            <a:ext cx="5120400" cy="4367100"/>
          </a:xfrm>
          <a:prstGeom prst="rect">
            <a:avLst/>
          </a:prstGeom>
          <a:solidFill>
            <a:srgbClr val="F3F2F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858000" y="2103120"/>
            <a:ext cx="45716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PERTINENCIA MÉDICA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858025" y="2331720"/>
            <a:ext cx="45717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sz="8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857988" y="3520015"/>
            <a:ext cx="4571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8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oherencia medicamento–condición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858025" y="3933475"/>
            <a:ext cx="4571700" cy="18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Sin errores groseros de prescripción: los diabéticos reciben insulina o metformina, los asmáticos inhaladores o corticoides, los hipertensos betabloqueantes o aspirina.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El problema de la prepaga no es mala praxis. Es volumen de crónicos.</a:t>
            </a:r>
            <a:endParaRPr b="1" sz="1700" u="none" strike="noStrike">
              <a:solidFill>
                <a:srgbClr val="000000"/>
              </a:solidFill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-36850" y="4835328"/>
            <a:ext cx="37488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50 / 50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-36850" y="5091288"/>
            <a:ext cx="3748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Elective vs Emergency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2541880" y="4826453"/>
            <a:ext cx="37488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8.5 días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2541880" y="5082413"/>
            <a:ext cx="3748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duración media internación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875360" y="5738865"/>
            <a:ext cx="37488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51% Abnormal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875360" y="5994825"/>
            <a:ext cx="3748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en Test Results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6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8ff598e22_0_31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d8ff598e22_0_31"/>
          <p:cNvSpPr/>
          <p:nvPr/>
        </p:nvSpPr>
        <p:spPr>
          <a:xfrm>
            <a:off x="457200" y="320040"/>
            <a:ext cx="9141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07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8ff598e22_0_31"/>
          <p:cNvSpPr/>
          <p:nvPr/>
        </p:nvSpPr>
        <p:spPr>
          <a:xfrm>
            <a:off x="822960" y="320040"/>
            <a:ext cx="91437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Uso del sistema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d8ff598e22_0_31"/>
          <p:cNvSpPr/>
          <p:nvPr/>
        </p:nvSpPr>
        <p:spPr>
          <a:xfrm>
            <a:off x="457200" y="777240"/>
            <a:ext cx="1097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Los 'Healthy' se comportan distinto al resto</a:t>
            </a:r>
            <a:endParaRPr b="1" sz="3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8ff598e22_0_31"/>
          <p:cNvSpPr/>
          <p:nvPr/>
        </p:nvSpPr>
        <p:spPr>
          <a:xfrm>
            <a:off x="6583675" y="2712825"/>
            <a:ext cx="5120400" cy="2424300"/>
          </a:xfrm>
          <a:prstGeom prst="rect">
            <a:avLst/>
          </a:prstGeom>
          <a:solidFill>
            <a:srgbClr val="F3F2F1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8ff598e22_0_31"/>
          <p:cNvSpPr/>
          <p:nvPr/>
        </p:nvSpPr>
        <p:spPr>
          <a:xfrm>
            <a:off x="6858000" y="2874770"/>
            <a:ext cx="45717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LECTURA RÁPIDA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d8ff598e22_0_31"/>
          <p:cNvSpPr/>
          <p:nvPr/>
        </p:nvSpPr>
        <p:spPr>
          <a:xfrm>
            <a:off x="457200" y="6583680"/>
            <a:ext cx="5486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d8ff598e22_0_31"/>
          <p:cNvSpPr/>
          <p:nvPr/>
        </p:nvSpPr>
        <p:spPr>
          <a:xfrm>
            <a:off x="10332720" y="6583680"/>
            <a:ext cx="1371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7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d8ff598e22_0_31" title="enfermi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75" y="1578900"/>
            <a:ext cx="6188405" cy="47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d8ff598e22_0_31"/>
          <p:cNvSpPr/>
          <p:nvPr/>
        </p:nvSpPr>
        <p:spPr>
          <a:xfrm>
            <a:off x="6858000" y="3331675"/>
            <a:ext cx="4571700" cy="18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Enfermos: </a:t>
            </a:r>
            <a:r>
              <a:rPr lang="en-US" sz="17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~60% Abnormal.</a:t>
            </a:r>
            <a:endParaRPr sz="1700">
              <a:solidFill>
                <a:srgbClr val="3231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Healthy: </a:t>
            </a:r>
            <a:r>
              <a:rPr lang="en-US" sz="17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Solo 12% de Abnormal.</a:t>
            </a:r>
            <a:endParaRPr sz="1700">
              <a:solidFill>
                <a:srgbClr val="3231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231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7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Los 'Healthy' probablemente sean chequeos preventivos, no errores de clasificación. Buena noticia — pero hay que confirmarlo.</a:t>
            </a:r>
            <a:endParaRPr sz="1700">
              <a:solidFill>
                <a:srgbClr val="3231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 u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57200" y="320040"/>
            <a:ext cx="9141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08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Análisis de billing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57200" y="777240"/>
            <a:ext cx="1097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Dónde </a:t>
            </a: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stá la </a:t>
            </a: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lata</a:t>
            </a: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57200" y="1828800"/>
            <a:ext cx="2742840" cy="1005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57200" y="1965960"/>
            <a:ext cx="2742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$3.693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57200" y="2468880"/>
            <a:ext cx="2742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billing medio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383280" y="1828800"/>
            <a:ext cx="2742840" cy="1005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3383280" y="1965960"/>
            <a:ext cx="2742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$1.050 – $8.115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383280" y="2468880"/>
            <a:ext cx="2742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rango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309360" y="1828800"/>
            <a:ext cx="2742840" cy="1005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309360" y="1965960"/>
            <a:ext cx="2742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+50%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309360" y="2468880"/>
            <a:ext cx="2742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Emergency vs Elective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9235440" y="1828800"/>
            <a:ext cx="2742840" cy="1005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9235440" y="1965960"/>
            <a:ext cx="2742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+50%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9235440" y="2468880"/>
            <a:ext cx="2742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76+ vs 18-30 años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8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6" title="gastosvsedad.png"/>
          <p:cNvPicPr preferRelativeResize="0"/>
          <p:nvPr/>
        </p:nvPicPr>
        <p:blipFill rotWithShape="1">
          <a:blip r:embed="rId3">
            <a:alphaModFix/>
          </a:blip>
          <a:srcRect b="5196" l="0" r="6951" t="5223"/>
          <a:stretch/>
        </p:blipFill>
        <p:spPr>
          <a:xfrm>
            <a:off x="2449350" y="3081875"/>
            <a:ext cx="6786100" cy="34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8ff598e22_0_70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8ff598e22_0_70"/>
          <p:cNvSpPr/>
          <p:nvPr/>
        </p:nvSpPr>
        <p:spPr>
          <a:xfrm>
            <a:off x="457200" y="320040"/>
            <a:ext cx="9141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09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8ff598e22_0_70"/>
          <p:cNvSpPr/>
          <p:nvPr/>
        </p:nvSpPr>
        <p:spPr>
          <a:xfrm>
            <a:off x="822960" y="320040"/>
            <a:ext cx="91437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Análisis de billing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d8ff598e22_0_70"/>
          <p:cNvSpPr/>
          <p:nvPr/>
        </p:nvSpPr>
        <p:spPr>
          <a:xfrm>
            <a:off x="457200" y="777240"/>
            <a:ext cx="1097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¿Dónde está la plata? Proveedores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d8ff598e22_0_70"/>
          <p:cNvSpPr/>
          <p:nvPr/>
        </p:nvSpPr>
        <p:spPr>
          <a:xfrm>
            <a:off x="457200" y="5623560"/>
            <a:ext cx="11246700" cy="777000"/>
          </a:xfrm>
          <a:prstGeom prst="rect">
            <a:avLst/>
          </a:prstGeom>
          <a:solidFill>
            <a:srgbClr val="FFF4E0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8ff598e22_0_70"/>
          <p:cNvSpPr/>
          <p:nvPr/>
        </p:nvSpPr>
        <p:spPr>
          <a:xfrm>
            <a:off x="457200" y="5623560"/>
            <a:ext cx="72600" cy="777000"/>
          </a:xfrm>
          <a:prstGeom prst="rect">
            <a:avLst/>
          </a:prstGeom>
          <a:solidFill>
            <a:srgbClr val="D88C00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8ff598e22_0_70"/>
          <p:cNvSpPr/>
          <p:nvPr/>
        </p:nvSpPr>
        <p:spPr>
          <a:xfrm>
            <a:off x="731520" y="5715000"/>
            <a:ext cx="1097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D88C00"/>
                </a:solidFill>
                <a:latin typeface="Calibri"/>
                <a:ea typeface="Calibri"/>
                <a:cs typeface="Calibri"/>
                <a:sym typeface="Calibri"/>
              </a:rPr>
              <a:t>⚠  Basic, Silver, Gold y Platinum generan billing SIMILAR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d8ff598e22_0_70"/>
          <p:cNvSpPr/>
          <p:nvPr/>
        </p:nvSpPr>
        <p:spPr>
          <a:xfrm>
            <a:off x="731520" y="6035040"/>
            <a:ext cx="109725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O el pricing está mal, o los planes no diferencian el nivel real de servicio. Hay plata dejada en la mesa.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8ff598e22_0_70"/>
          <p:cNvSpPr/>
          <p:nvPr/>
        </p:nvSpPr>
        <p:spPr>
          <a:xfrm>
            <a:off x="457200" y="6583680"/>
            <a:ext cx="5486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8ff598e22_0_70"/>
          <p:cNvSpPr/>
          <p:nvPr/>
        </p:nvSpPr>
        <p:spPr>
          <a:xfrm>
            <a:off x="10332720" y="6583680"/>
            <a:ext cx="1371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9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g3d8ff598e22_0_70" title="planesygastos.png"/>
          <p:cNvPicPr preferRelativeResize="0"/>
          <p:nvPr/>
        </p:nvPicPr>
        <p:blipFill rotWithShape="1">
          <a:blip r:embed="rId3">
            <a:alphaModFix/>
          </a:blip>
          <a:srcRect b="5036" l="0" r="0" t="5670"/>
          <a:stretch/>
        </p:blipFill>
        <p:spPr>
          <a:xfrm>
            <a:off x="2484438" y="1426000"/>
            <a:ext cx="7223124" cy="40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8ff598e22_0_98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d8ff598e22_0_98"/>
          <p:cNvSpPr/>
          <p:nvPr/>
        </p:nvSpPr>
        <p:spPr>
          <a:xfrm>
            <a:off x="457200" y="320040"/>
            <a:ext cx="9141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10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8ff598e22_0_98"/>
          <p:cNvSpPr/>
          <p:nvPr/>
        </p:nvSpPr>
        <p:spPr>
          <a:xfrm>
            <a:off x="822960" y="320040"/>
            <a:ext cx="91437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Análisis de billing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d8ff598e22_0_98"/>
          <p:cNvSpPr/>
          <p:nvPr/>
        </p:nvSpPr>
        <p:spPr>
          <a:xfrm>
            <a:off x="457200" y="777240"/>
            <a:ext cx="1097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¿Dónde está la plata? Por condición médica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d8ff598e22_0_98"/>
          <p:cNvSpPr/>
          <p:nvPr/>
        </p:nvSpPr>
        <p:spPr>
          <a:xfrm>
            <a:off x="457200" y="5895854"/>
            <a:ext cx="11246700" cy="504600"/>
          </a:xfrm>
          <a:prstGeom prst="rect">
            <a:avLst/>
          </a:prstGeom>
          <a:solidFill>
            <a:srgbClr val="FFF4E0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d8ff598e22_0_98"/>
          <p:cNvSpPr/>
          <p:nvPr/>
        </p:nvSpPr>
        <p:spPr>
          <a:xfrm>
            <a:off x="457200" y="5895954"/>
            <a:ext cx="72600" cy="504600"/>
          </a:xfrm>
          <a:prstGeom prst="rect">
            <a:avLst/>
          </a:prstGeom>
          <a:solidFill>
            <a:srgbClr val="D88C00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d8ff598e22_0_98"/>
          <p:cNvSpPr/>
          <p:nvPr/>
        </p:nvSpPr>
        <p:spPr>
          <a:xfrm>
            <a:off x="731520" y="5983625"/>
            <a:ext cx="1097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D88C00"/>
                </a:solidFill>
                <a:latin typeface="Calibri"/>
                <a:ea typeface="Calibri"/>
                <a:cs typeface="Calibri"/>
                <a:sym typeface="Calibri"/>
              </a:rPr>
              <a:t>⚠ Obesidad e Hip</a:t>
            </a:r>
            <a:r>
              <a:rPr b="1" lang="en-US" sz="1500">
                <a:solidFill>
                  <a:srgbClr val="D88C00"/>
                </a:solidFill>
                <a:latin typeface="Calibri"/>
                <a:ea typeface="Calibri"/>
                <a:cs typeface="Calibri"/>
                <a:sym typeface="Calibri"/>
              </a:rPr>
              <a:t>ertensión llevan 45% de la cartera · más de 1/3 del gasto total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8ff598e22_0_98"/>
          <p:cNvSpPr/>
          <p:nvPr/>
        </p:nvSpPr>
        <p:spPr>
          <a:xfrm>
            <a:off x="457200" y="6583680"/>
            <a:ext cx="5486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8ff598e22_0_98"/>
          <p:cNvSpPr/>
          <p:nvPr/>
        </p:nvSpPr>
        <p:spPr>
          <a:xfrm>
            <a:off x="10332720" y="6583680"/>
            <a:ext cx="1371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10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3d8ff598e22_0_98" title="gastosen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475" y="1324437"/>
            <a:ext cx="5937940" cy="445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11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Modelos predictivos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¿Podemos anticipar un paciente caro?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57200" y="1783080"/>
            <a:ext cx="109724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Target: Alto Costo = 1 si Billing &gt; percentil 75 ($4.652)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57200" y="2286000"/>
            <a:ext cx="5486040" cy="2559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57200" y="2286000"/>
            <a:ext cx="5486040" cy="4568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31520" y="2377440"/>
            <a:ext cx="548604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Regresión Logística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731520" y="2971800"/>
            <a:ext cx="493740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0.934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731520" y="3840480"/>
            <a:ext cx="4937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AUC (excelente, &gt; 0.9)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731520" y="4206240"/>
            <a:ext cx="4937400" cy="18000"/>
          </a:xfrm>
          <a:prstGeom prst="rect">
            <a:avLst/>
          </a:prstGeom>
          <a:solidFill>
            <a:srgbClr val="E1E1E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731520" y="4297680"/>
            <a:ext cx="4937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81.7%  — recall @ top 30%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217920" y="2286000"/>
            <a:ext cx="5486040" cy="2559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217920" y="2286000"/>
            <a:ext cx="5486040" cy="4568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492240" y="2377440"/>
            <a:ext cx="548604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Árbol de Decisiones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492240" y="2971800"/>
            <a:ext cx="493740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0.933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492240" y="3840480"/>
            <a:ext cx="4937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AUC (excelente, &gt; 0.9)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492240" y="4206240"/>
            <a:ext cx="4937400" cy="18000"/>
          </a:xfrm>
          <a:prstGeom prst="rect">
            <a:avLst/>
          </a:prstGeom>
          <a:solidFill>
            <a:srgbClr val="E1E1E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492240" y="4297680"/>
            <a:ext cx="4937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80.7%  — recall @ top 30%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457200" y="5212080"/>
            <a:ext cx="11246760" cy="11883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731520" y="5349240"/>
            <a:ext cx="109724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Lectura de negocio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731520" y="571500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Interviniendo sólo en el top 30% de pacientes según score, la prepaga captura ~80% de los alto-costo reales. Esto es 70% menos esfuerzo operativo sin perder cobertura.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11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Modelos predictivos · comparación visual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3366"/>
                </a:solidFill>
                <a:latin typeface="Calibri"/>
              </a:rPr>
              <a:t>Cómo comparamos los modelos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Criterios de la clase 4: curva ROC (AUC) + recall acumulado por decil</a:t>
            </a:r>
          </a:p>
        </p:txBody>
      </p:sp>
      <p:pic>
        <p:nvPicPr>
          <p:cNvPr id="10" name="Picture 9" descr="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8840"/>
            <a:ext cx="6400800" cy="3931920"/>
          </a:xfrm>
          <a:prstGeom prst="rect">
            <a:avLst/>
          </a:prstGeom>
        </p:spPr>
      </p:pic>
      <p:pic>
        <p:nvPicPr>
          <p:cNvPr id="11" name="Picture 10" descr="recall_dec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48840"/>
            <a:ext cx="5029200" cy="39319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6172200"/>
            <a:ext cx="11247120" cy="384048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172200"/>
            <a:ext cx="73152" cy="384048"/>
          </a:xfrm>
          <a:prstGeom prst="rect">
            <a:avLst/>
          </a:prstGeom>
          <a:solidFill>
            <a:srgbClr val="D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3366"/>
                </a:solidFill>
                <a:latin typeface="Calibri"/>
              </a:rPr>
              <a:t>Ambos modelos tienen AUC &gt; 0.9 (excelente). Empatan en performance; Logística gana por simplicidad.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Calibri"/>
              </a:rPr>
              <a:t>TP Analytics ITBA · Prepaga de salud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13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Segmentación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Cuatro perfiles de paciente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57200" y="1691640"/>
            <a:ext cx="10972440" cy="19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K-means (aprendizaje no supervisado) sobre Age + Duration + Billing | clase 4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57200" y="2103120"/>
            <a:ext cx="5486040" cy="1874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57200" y="2103120"/>
            <a:ext cx="72720" cy="18741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731520" y="2212920"/>
            <a:ext cx="11883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Cluster 0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1920240" y="2249280"/>
            <a:ext cx="1371240" cy="228240"/>
          </a:xfrm>
          <a:prstGeom prst="rect">
            <a:avLst/>
          </a:prstGeom>
          <a:solidFill>
            <a:srgbClr val="D88C0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1920240" y="2277000"/>
            <a:ext cx="13712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 ALTA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3657600" y="2212920"/>
            <a:ext cx="21027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21.4% de la cartera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731520" y="260604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EDAD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731520" y="280728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68 años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423160" y="260604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2423160" y="280728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6.5 días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114800" y="260604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114800" y="280728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$5.716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731520" y="3429000"/>
            <a:ext cx="5028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Mayores · internaciones cortas y caras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080760" y="2103120"/>
            <a:ext cx="5486040" cy="1874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080760" y="2103120"/>
            <a:ext cx="72720" cy="18741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355080" y="2212920"/>
            <a:ext cx="11883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Cluster 1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9281160" y="2212920"/>
            <a:ext cx="21027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26.1% de la cartera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6355080" y="260604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EDAD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6355080" y="280728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34 años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8046720" y="260604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8046720" y="280728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10.6 días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9738360" y="260604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9738360" y="280728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$2.342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6355080" y="3429000"/>
            <a:ext cx="5028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Jóvenes · internaciones largas y baratas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57200" y="4114800"/>
            <a:ext cx="5486040" cy="1874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57200" y="4114800"/>
            <a:ext cx="72720" cy="18741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731520" y="4224600"/>
            <a:ext cx="11883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Cluster 2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3657600" y="4224600"/>
            <a:ext cx="21027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25.5% de la cartera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731520" y="461772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EDAD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731520" y="481896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41 años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2423160" y="461772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2423160" y="481896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6.0 días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114800" y="461772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114800" y="481896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$4.020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731520" y="5440680"/>
            <a:ext cx="5028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Adultos · internaciones cortas costo medio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6080760" y="4114800"/>
            <a:ext cx="5486040" cy="1874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6080760" y="4114800"/>
            <a:ext cx="72720" cy="18741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6355080" y="4224600"/>
            <a:ext cx="11883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Cluster 3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9281160" y="4224600"/>
            <a:ext cx="210276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27.0% de la cartera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6355080" y="461772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EDAD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6355080" y="481896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66 años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8046720" y="461772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8046720" y="481896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10.6 días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9738360" y="4617720"/>
            <a:ext cx="16455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9738360" y="4818960"/>
            <a:ext cx="16455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$3.084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6355080" y="5440680"/>
            <a:ext cx="5028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Mayores · internaciones largas costo medio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457200" y="612648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Permite a la prepaga diseñar intervenciones específicas por segmento en lugar de campañas genéricas.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605E5C"/>
                </a:solidFill>
                <a:latin typeface="Calibri"/>
              </a:rPr>
              <a:t>13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Segmentación · visualización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3366"/>
                </a:solidFill>
                <a:latin typeface="Calibri"/>
              </a:rPr>
              <a:t>Cómo elegimos y dónde caen los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  <a:latin typeface="Calibri"/>
              </a:rPr>
              <a:t>Método del codo para elegir K = 4 · Scatter edad vs billing coloreado por cluster</a:t>
            </a:r>
          </a:p>
        </p:txBody>
      </p:sp>
      <p:pic>
        <p:nvPicPr>
          <p:cNvPr id="10" name="Picture 9" descr="elbow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0280"/>
            <a:ext cx="45720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074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5E5C"/>
                </a:solidFill>
                <a:latin typeface="Calibri"/>
              </a:rPr>
              <a:t>Quiebre claro en K = 4</a:t>
            </a:r>
          </a:p>
        </p:txBody>
      </p:sp>
      <p:pic>
        <p:nvPicPr>
          <p:cNvPr id="12" name="Picture 11" descr="kmean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48840"/>
            <a:ext cx="6766560" cy="3931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6172200"/>
            <a:ext cx="11247120" cy="384048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172200"/>
            <a:ext cx="73152" cy="384048"/>
          </a:xfrm>
          <a:prstGeom prst="rect">
            <a:avLst/>
          </a:prstGeom>
          <a:solidFill>
            <a:srgbClr val="D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2270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Calibri"/>
              </a:rPr>
              <a:t>Los clusters separan claramente por edad y costo. Cluster 0 (naranja, arriba-derecha) es el de mayor prioridad.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05E5C"/>
                </a:solidFill>
                <a:latin typeface="Calibri"/>
              </a:rPr>
              <a:t>TP Analytics ITBA · Prepaga de salud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05E5C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15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Conclusiones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Qué le decimos a la prepaga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365760" y="1828800"/>
            <a:ext cx="3794400" cy="420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365760" y="1828800"/>
            <a:ext cx="3794400" cy="639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94360" y="1965960"/>
            <a:ext cx="914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594360" y="2651760"/>
            <a:ext cx="3337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Priorizar prevención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594360" y="3200400"/>
            <a:ext cx="3337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Obesidad e Hipertensión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594360" y="3749040"/>
            <a:ext cx="456840" cy="180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594360" y="3931920"/>
            <a:ext cx="333720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45% de la cartera · más de 1/3 del gasto total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Bajar 10% sus internaciones mueve más la aguja que cualquier otra intervención.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4251960" y="1828800"/>
            <a:ext cx="3794400" cy="420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251960" y="1828800"/>
            <a:ext cx="3794400" cy="639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480560" y="1965960"/>
            <a:ext cx="914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480560" y="2651760"/>
            <a:ext cx="3337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Rediseñar planes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4480560" y="3200400"/>
            <a:ext cx="3337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Basic ≈ Platinum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480560" y="3749040"/>
            <a:ext cx="456840" cy="180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8138160" y="1828800"/>
            <a:ext cx="3794400" cy="420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8138160" y="1828800"/>
            <a:ext cx="3794400" cy="639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8366760" y="1965960"/>
            <a:ext cx="914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8366760" y="2651760"/>
            <a:ext cx="3337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Limpiar la carga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8366760" y="3200400"/>
            <a:ext cx="33372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Data sucia = modelos ruidosos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8366760" y="3749040"/>
            <a:ext cx="456840" cy="180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8366760" y="3931920"/>
            <a:ext cx="333720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19% sin medicamento · 34 bebés con crónicos · Gender inconsistente.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Problemas operativos, no analíticos. Arreglar antes de escalar.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05E5C"/>
                </a:solidFill>
                <a:latin typeface="Calibri"/>
                <a:ea typeface="Calibri"/>
                <a:cs typeface="Calibri"/>
                <a:sym typeface="Calibri"/>
              </a:rPr>
              <a:t>TP Analytics ITBA · Prepaga de salud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05E5C"/>
                </a:solidFill>
                <a:latin typeface="Calibri"/>
              </a:rPr>
              <a:t>15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4480560" y="3931920"/>
            <a:ext cx="333720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El billing medio es similar entre planes.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Hay un problema de pricing o diferenciación real</a:t>
            </a:r>
            <a:r>
              <a:rPr lang="en-US" sz="1600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78D4"/>
                </a:solidFill>
                <a:latin typeface="Calibri"/>
              </a:rPr>
              <a:t>16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05E5C"/>
                </a:solidFill>
                <a:latin typeface="Calibri"/>
              </a:rPr>
              <a:t>Limitaciones y próximos pasos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 que no pudimos responder y por qué</a:t>
            </a:r>
            <a:endParaRPr b="0" sz="3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57200" y="1828800"/>
            <a:ext cx="5394600" cy="4568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640080" y="1920240"/>
            <a:ext cx="53946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QUE FALTAN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57200" y="2286000"/>
            <a:ext cx="5394600" cy="347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685800" y="2468880"/>
            <a:ext cx="4937400" cy="32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ID anonimizado de paciente.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Sin esto no hay análisis longitudinal ni detección de reingresos. La limitación más grande.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Severidad de la condición.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Un diabético controlado no es lo mismo que uno con complicaciones renales.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Costos desglosados.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Billing total sin saber cuánto es medicamento, cama o estudios.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Datos socioeconómicos.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Para entender adherencia a tratamientos y segmentar mejor.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6309360" y="1828800"/>
            <a:ext cx="5394600" cy="4568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6492240" y="1920240"/>
            <a:ext cx="53946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PREGUNTAS ABIERTAS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309360" y="2286000"/>
            <a:ext cx="5394600" cy="347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6537960" y="2468880"/>
            <a:ext cx="4937400" cy="32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¿Hay estacionalidad en las admisiones? (asma en invierno, etc.)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¿Qué son los 1108 "Healthy" internados? ¿Chequeos preventivos?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¿Los bebés con patologías crónicas son errores? ¿Hijos cubiertos por el plan de la madre?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¿Cuál es la tasa de reingreso por condición?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700" u="none" strike="noStrike">
                <a:solidFill>
                  <a:srgbClr val="323130"/>
                </a:solidFill>
                <a:latin typeface="Calibri"/>
                <a:ea typeface="Calibri"/>
                <a:cs typeface="Calibri"/>
                <a:sym typeface="Calibri"/>
              </a:rPr>
              <a:t>¿Los costos crecieron año a año?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10332720" y="6583680"/>
            <a:ext cx="1371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05E5C"/>
                </a:solidFill>
                <a:latin typeface="Calibri"/>
              </a:rPr>
              <a:t>16 / 17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"/>
          <p:cNvSpPr/>
          <p:nvPr/>
        </p:nvSpPr>
        <p:spPr>
          <a:xfrm>
            <a:off x="360" y="0"/>
            <a:ext cx="12191400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72680" y="2743200"/>
            <a:ext cx="11246760" cy="12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0" sz="8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360" y="6584040"/>
            <a:ext cx="12191400" cy="2739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228600" y="6172200"/>
            <a:ext cx="1005804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729FCF"/>
                </a:solidFill>
                <a:latin typeface="Calibri"/>
                <a:ea typeface="Calibri"/>
                <a:cs typeface="Calibri"/>
                <a:sym typeface="Calibri"/>
              </a:rPr>
              <a:t>TP Final de Analytics · ITBA · Abril 2026</a:t>
            </a:r>
            <a:endParaRPr b="0" sz="1800" u="none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